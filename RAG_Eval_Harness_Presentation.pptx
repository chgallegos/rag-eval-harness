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Built this after two years as the SME on an enterprise generative AI search product. This deck walks through what it does, shows it catching real failure classes, and is honest about its limits.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420"/>
        </a:solidFill>
      </p:bgPr>
    </p:bg>
    <p:spTree>
      <p:nvGrpSpPr>
        <p:cNvPr id="1" name=""/>
        <p:cNvGrpSpPr/>
        <p:nvPr/>
      </p:nvGrpSpPr>
      <p:grpSpPr>
        <a:xfrm>
          <a:off x="0" y="0"/>
          <a:ext cx="0" cy="0"/>
          <a:chOff x="0" y="0"/>
          <a:chExt cx="0" cy="0"/>
        </a:xfrm>
      </p:grpSpPr>
      <p:sp>
        <p:nvSpPr>
          <p:cNvPr id="2" name="Text 0"/>
          <p:cNvSpPr/>
          <p:nvPr/>
        </p:nvSpPr>
        <p:spPr>
          <a:xfrm>
            <a:off x="822960" y="2011680"/>
            <a:ext cx="10515600" cy="1005840"/>
          </a:xfrm>
          <a:prstGeom prst="rect">
            <a:avLst/>
          </a:prstGeom>
          <a:noFill/>
          <a:ln/>
        </p:spPr>
        <p:txBody>
          <a:bodyPr wrap="square" lIns="0" tIns="0" rIns="0" bIns="0" rtlCol="0" anchor="ctr"/>
          <a:lstStyle/>
          <a:p>
            <a:pPr indent="0" marL="0">
              <a:buNone/>
            </a:pPr>
            <a:r>
              <a:rPr lang="en-US" sz="4800" b="1" dirty="0">
                <a:solidFill>
                  <a:srgbClr val="E8ECF4"/>
                </a:solidFill>
                <a:latin typeface="Calibri" pitchFamily="34" charset="0"/>
                <a:ea typeface="Calibri" pitchFamily="34" charset="-122"/>
                <a:cs typeface="Calibri" pitchFamily="34" charset="-120"/>
              </a:rPr>
              <a:t>RAG Evaluation Harness</a:t>
            </a:r>
            <a:endParaRPr lang="en-US" sz="4800" dirty="0"/>
          </a:p>
        </p:txBody>
      </p:sp>
      <p:sp>
        <p:nvSpPr>
          <p:cNvPr id="3" name="Text 1"/>
          <p:cNvSpPr/>
          <p:nvPr/>
        </p:nvSpPr>
        <p:spPr>
          <a:xfrm>
            <a:off x="822960" y="3017520"/>
            <a:ext cx="10515600" cy="548640"/>
          </a:xfrm>
          <a:prstGeom prst="rect">
            <a:avLst/>
          </a:prstGeom>
          <a:noFill/>
          <a:ln/>
        </p:spPr>
        <p:txBody>
          <a:bodyPr wrap="square" lIns="0" tIns="0" rIns="0" bIns="0" rtlCol="0" anchor="ctr"/>
          <a:lstStyle/>
          <a:p>
            <a:pPr indent="0" marL="0">
              <a:buNone/>
            </a:pPr>
            <a:r>
              <a:rPr lang="en-US" sz="2400" dirty="0">
                <a:solidFill>
                  <a:srgbClr val="8B95AB"/>
                </a:solidFill>
                <a:latin typeface="Calibri" pitchFamily="34" charset="0"/>
                <a:ea typeface="Calibri" pitchFamily="34" charset="-122"/>
                <a:cs typeface="Calibri" pitchFamily="34" charset="-120"/>
              </a:rPr>
              <a:t>Testing AI you can't </a:t>
            </a:r>
            <a:pPr indent="0" marL="0">
              <a:buNone/>
            </a:pPr>
            <a:r>
              <a:rPr lang="en-US" sz="2400" dirty="0">
                <a:solidFill>
                  <a:srgbClr val="5B8CFF"/>
                </a:solidFill>
                <a:latin typeface="Courier New" pitchFamily="34" charset="0"/>
                <a:ea typeface="Courier New" pitchFamily="34" charset="-122"/>
                <a:cs typeface="Courier New" pitchFamily="34" charset="-120"/>
              </a:rPr>
              <a:t>assertEquals</a:t>
            </a:r>
            <a:endParaRPr lang="en-US" sz="2400" dirty="0"/>
          </a:p>
        </p:txBody>
      </p:sp>
      <p:sp>
        <p:nvSpPr>
          <p:cNvPr id="4" name="Text 2"/>
          <p:cNvSpPr/>
          <p:nvPr/>
        </p:nvSpPr>
        <p:spPr>
          <a:xfrm>
            <a:off x="822960" y="5852160"/>
            <a:ext cx="10515600" cy="457200"/>
          </a:xfrm>
          <a:prstGeom prst="rect">
            <a:avLst/>
          </a:prstGeom>
          <a:noFill/>
          <a:ln/>
        </p:spPr>
        <p:txBody>
          <a:bodyPr wrap="square" lIns="0" tIns="0" rIns="0" bIns="0" rtlCol="0" anchor="ctr"/>
          <a:lstStyle/>
          <a:p>
            <a:pPr indent="0" marL="0">
              <a:buNone/>
            </a:pPr>
            <a:r>
              <a:rPr lang="en-US" sz="1600" dirty="0">
                <a:solidFill>
                  <a:srgbClr val="8B95AB"/>
                </a:solidFill>
                <a:latin typeface="Calibri" pitchFamily="34" charset="0"/>
                <a:ea typeface="Calibri" pitchFamily="34" charset="-122"/>
                <a:cs typeface="Calibri" pitchFamily="34" charset="-120"/>
              </a:rPr>
              <a:t>Chris Gallegos  ·  github.com/chgallegos/rag-eval-harness</a:t>
            </a:r>
            <a:endParaRPr lang="en-US" sz="1600" dirty="0"/>
          </a:p>
        </p:txBody>
      </p:sp>
      <p:sp>
        <p:nvSpPr>
          <p:cNvPr id="5" name="Shape 3"/>
          <p:cNvSpPr/>
          <p:nvPr/>
        </p:nvSpPr>
        <p:spPr>
          <a:xfrm>
            <a:off x="822960" y="4023360"/>
            <a:ext cx="1143000" cy="822960"/>
          </a:xfrm>
          <a:prstGeom prst="roundRect">
            <a:avLst>
              <a:gd name="adj" fmla="val 8889"/>
            </a:avLst>
          </a:prstGeom>
          <a:solidFill>
            <a:srgbClr val="1D2639"/>
          </a:solidFill>
          <a:ln w="12700">
            <a:solidFill>
              <a:srgbClr val="2A3550"/>
            </a:solidFill>
            <a:prstDash val="solid"/>
          </a:ln>
        </p:spPr>
      </p:sp>
      <p:sp>
        <p:nvSpPr>
          <p:cNvPr id="6" name="Text 4"/>
          <p:cNvSpPr/>
          <p:nvPr/>
        </p:nvSpPr>
        <p:spPr>
          <a:xfrm>
            <a:off x="822960" y="4023360"/>
            <a:ext cx="1143000" cy="822960"/>
          </a:xfrm>
          <a:prstGeom prst="rect">
            <a:avLst/>
          </a:prstGeom>
          <a:noFill/>
          <a:ln/>
        </p:spPr>
        <p:txBody>
          <a:bodyPr wrap="square" lIns="0" tIns="0" rIns="0" bIns="0" rtlCol="0" anchor="ctr"/>
          <a:lstStyle/>
          <a:p>
            <a:pPr algn="ctr" indent="0" marL="0">
              <a:buNone/>
            </a:pPr>
            <a:r>
              <a:rPr lang="en-US" sz="2200" b="1" dirty="0">
                <a:solidFill>
                  <a:srgbClr val="3ECF8E"/>
                </a:solidFill>
                <a:latin typeface="Courier New" pitchFamily="34" charset="0"/>
                <a:ea typeface="Courier New" pitchFamily="34" charset="-122"/>
                <a:cs typeface="Courier New" pitchFamily="34" charset="-120"/>
              </a:rPr>
              <a:t>1.00</a:t>
            </a:r>
            <a:endParaRPr lang="en-US" sz="2200" dirty="0"/>
          </a:p>
        </p:txBody>
      </p:sp>
      <p:sp>
        <p:nvSpPr>
          <p:cNvPr id="7" name="Shape 5"/>
          <p:cNvSpPr/>
          <p:nvPr/>
        </p:nvSpPr>
        <p:spPr>
          <a:xfrm>
            <a:off x="2194560" y="4023360"/>
            <a:ext cx="1143000" cy="822960"/>
          </a:xfrm>
          <a:prstGeom prst="roundRect">
            <a:avLst>
              <a:gd name="adj" fmla="val 8889"/>
            </a:avLst>
          </a:prstGeom>
          <a:solidFill>
            <a:srgbClr val="1D2639"/>
          </a:solidFill>
          <a:ln w="12700">
            <a:solidFill>
              <a:srgbClr val="2A3550"/>
            </a:solidFill>
            <a:prstDash val="solid"/>
          </a:ln>
        </p:spPr>
      </p:sp>
      <p:sp>
        <p:nvSpPr>
          <p:cNvPr id="8" name="Text 6"/>
          <p:cNvSpPr/>
          <p:nvPr/>
        </p:nvSpPr>
        <p:spPr>
          <a:xfrm>
            <a:off x="2194560" y="4023360"/>
            <a:ext cx="1143000" cy="822960"/>
          </a:xfrm>
          <a:prstGeom prst="rect">
            <a:avLst/>
          </a:prstGeom>
          <a:noFill/>
          <a:ln/>
        </p:spPr>
        <p:txBody>
          <a:bodyPr wrap="square" lIns="0" tIns="0" rIns="0" bIns="0" rtlCol="0" anchor="ctr"/>
          <a:lstStyle/>
          <a:p>
            <a:pPr algn="ctr" indent="0" marL="0">
              <a:buNone/>
            </a:pPr>
            <a:r>
              <a:rPr lang="en-US" sz="2200" b="1" dirty="0">
                <a:solidFill>
                  <a:srgbClr val="FF5470"/>
                </a:solidFill>
                <a:latin typeface="Courier New" pitchFamily="34" charset="0"/>
                <a:ea typeface="Courier New" pitchFamily="34" charset="-122"/>
                <a:cs typeface="Courier New" pitchFamily="34" charset="-120"/>
              </a:rPr>
              <a:t>0.72</a:t>
            </a:r>
            <a:endParaRPr lang="en-US" sz="2200" dirty="0"/>
          </a:p>
        </p:txBody>
      </p:sp>
      <p:sp>
        <p:nvSpPr>
          <p:cNvPr id="9" name="Shape 7"/>
          <p:cNvSpPr/>
          <p:nvPr/>
        </p:nvSpPr>
        <p:spPr>
          <a:xfrm>
            <a:off x="3566160" y="4023360"/>
            <a:ext cx="1143000" cy="822960"/>
          </a:xfrm>
          <a:prstGeom prst="roundRect">
            <a:avLst>
              <a:gd name="adj" fmla="val 8889"/>
            </a:avLst>
          </a:prstGeom>
          <a:solidFill>
            <a:srgbClr val="1D2639"/>
          </a:solidFill>
          <a:ln w="12700">
            <a:solidFill>
              <a:srgbClr val="2A3550"/>
            </a:solidFill>
            <a:prstDash val="solid"/>
          </a:ln>
        </p:spPr>
      </p:sp>
      <p:sp>
        <p:nvSpPr>
          <p:cNvPr id="10" name="Text 8"/>
          <p:cNvSpPr/>
          <p:nvPr/>
        </p:nvSpPr>
        <p:spPr>
          <a:xfrm>
            <a:off x="3566160" y="4023360"/>
            <a:ext cx="1143000" cy="822960"/>
          </a:xfrm>
          <a:prstGeom prst="rect">
            <a:avLst/>
          </a:prstGeom>
          <a:noFill/>
          <a:ln/>
        </p:spPr>
        <p:txBody>
          <a:bodyPr wrap="square" lIns="0" tIns="0" rIns="0" bIns="0" rtlCol="0" anchor="ctr"/>
          <a:lstStyle/>
          <a:p>
            <a:pPr algn="ctr" indent="0" marL="0">
              <a:buNone/>
            </a:pPr>
            <a:r>
              <a:rPr lang="en-US" sz="2200" b="1" dirty="0">
                <a:solidFill>
                  <a:srgbClr val="3ECF8E"/>
                </a:solidFill>
                <a:latin typeface="Courier New" pitchFamily="34" charset="0"/>
                <a:ea typeface="Courier New" pitchFamily="34" charset="-122"/>
                <a:cs typeface="Courier New" pitchFamily="34" charset="-120"/>
              </a:rPr>
              <a:t>1.00</a:t>
            </a:r>
            <a:endParaRPr lang="en-US" sz="2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F1420"/>
        </a:solidFill>
      </p:bgPr>
    </p:bg>
    <p:spTree>
      <p:nvGrpSpPr>
        <p:cNvPr id="1" name=""/>
        <p:cNvGrpSpPr/>
        <p:nvPr/>
      </p:nvGrpSpPr>
      <p:grpSpPr>
        <a:xfrm>
          <a:off x="0" y="0"/>
          <a:ext cx="0" cy="0"/>
          <a:chOff x="0" y="0"/>
          <a:chExt cx="0" cy="0"/>
        </a:xfrm>
      </p:grpSpPr>
      <p:sp>
        <p:nvSpPr>
          <p:cNvPr id="2" name="Text 0"/>
          <p:cNvSpPr/>
          <p:nvPr/>
        </p:nvSpPr>
        <p:spPr>
          <a:xfrm>
            <a:off x="822960" y="502920"/>
            <a:ext cx="10515600" cy="731520"/>
          </a:xfrm>
          <a:prstGeom prst="rect">
            <a:avLst/>
          </a:prstGeom>
          <a:noFill/>
          <a:ln/>
        </p:spPr>
        <p:txBody>
          <a:bodyPr wrap="square" lIns="0" tIns="0" rIns="0" bIns="0" rtlCol="0" anchor="ctr"/>
          <a:lstStyle/>
          <a:p>
            <a:pPr indent="0" marL="0">
              <a:buNone/>
            </a:pPr>
            <a:r>
              <a:rPr lang="en-US" sz="3400" b="1" dirty="0">
                <a:solidFill>
                  <a:srgbClr val="E8ECF4"/>
                </a:solidFill>
                <a:latin typeface="Calibri" pitchFamily="34" charset="0"/>
                <a:ea typeface="Calibri" pitchFamily="34" charset="-122"/>
                <a:cs typeface="Calibri" pitchFamily="34" charset="-120"/>
              </a:rPr>
              <a:t>You can't unit-test an LLM answer</a:t>
            </a:r>
            <a:endParaRPr lang="en-US" sz="3400" dirty="0"/>
          </a:p>
        </p:txBody>
      </p:sp>
      <p:sp>
        <p:nvSpPr>
          <p:cNvPr id="3" name="Shape 1"/>
          <p:cNvSpPr/>
          <p:nvPr/>
        </p:nvSpPr>
        <p:spPr>
          <a:xfrm>
            <a:off x="822960" y="1645920"/>
            <a:ext cx="3291840" cy="3200400"/>
          </a:xfrm>
          <a:prstGeom prst="roundRect">
            <a:avLst>
              <a:gd name="adj" fmla="val 2286"/>
            </a:avLst>
          </a:prstGeom>
          <a:solidFill>
            <a:srgbClr val="171E2E"/>
          </a:solidFill>
          <a:ln w="12700">
            <a:solidFill>
              <a:srgbClr val="2A3550"/>
            </a:solidFill>
            <a:prstDash val="solid"/>
          </a:ln>
        </p:spPr>
      </p:sp>
      <p:sp>
        <p:nvSpPr>
          <p:cNvPr id="4" name="Text 2"/>
          <p:cNvSpPr/>
          <p:nvPr/>
        </p:nvSpPr>
        <p:spPr>
          <a:xfrm>
            <a:off x="1097280" y="1920240"/>
            <a:ext cx="731520" cy="731520"/>
          </a:xfrm>
          <a:prstGeom prst="rect">
            <a:avLst/>
          </a:prstGeom>
          <a:noFill/>
          <a:ln/>
        </p:spPr>
        <p:txBody>
          <a:bodyPr wrap="square" lIns="0" tIns="0" rIns="0" bIns="0" rtlCol="0" anchor="ctr"/>
          <a:lstStyle/>
          <a:p>
            <a:pPr indent="0" marL="0">
              <a:buNone/>
            </a:pPr>
            <a:r>
              <a:rPr lang="en-US" sz="4000" b="1" dirty="0">
                <a:solidFill>
                  <a:srgbClr val="5B8CFF"/>
                </a:solidFill>
                <a:latin typeface="Courier New" pitchFamily="34" charset="0"/>
                <a:ea typeface="Courier New" pitchFamily="34" charset="-122"/>
                <a:cs typeface="Courier New" pitchFamily="34" charset="-120"/>
              </a:rPr>
              <a:t>1</a:t>
            </a:r>
            <a:endParaRPr lang="en-US" sz="4000" dirty="0"/>
          </a:p>
        </p:txBody>
      </p:sp>
      <p:sp>
        <p:nvSpPr>
          <p:cNvPr id="5" name="Text 3"/>
          <p:cNvSpPr/>
          <p:nvPr/>
        </p:nvSpPr>
        <p:spPr>
          <a:xfrm>
            <a:off x="1097280" y="2743200"/>
            <a:ext cx="2743200" cy="822960"/>
          </a:xfrm>
          <a:prstGeom prst="rect">
            <a:avLst/>
          </a:prstGeom>
          <a:noFill/>
          <a:ln/>
        </p:spPr>
        <p:txBody>
          <a:bodyPr wrap="square" lIns="0" tIns="0" rIns="0" bIns="0" rtlCol="0" anchor="ctr"/>
          <a:lstStyle/>
          <a:p>
            <a:pPr indent="0" marL="0">
              <a:buNone/>
            </a:pPr>
            <a:r>
              <a:rPr lang="en-US" sz="1800" b="1" dirty="0">
                <a:solidFill>
                  <a:srgbClr val="E8ECF4"/>
                </a:solidFill>
                <a:latin typeface="Calibri" pitchFamily="34" charset="0"/>
                <a:ea typeface="Calibri" pitchFamily="34" charset="-122"/>
                <a:cs typeface="Calibri" pitchFamily="34" charset="-120"/>
              </a:rPr>
              <a:t>Non-deterministic</a:t>
            </a:r>
            <a:endParaRPr lang="en-US" sz="1800" dirty="0"/>
          </a:p>
        </p:txBody>
      </p:sp>
      <p:sp>
        <p:nvSpPr>
          <p:cNvPr id="6" name="Text 4"/>
          <p:cNvSpPr/>
          <p:nvPr/>
        </p:nvSpPr>
        <p:spPr>
          <a:xfrm>
            <a:off x="1097280" y="3566160"/>
            <a:ext cx="2743200" cy="1188720"/>
          </a:xfrm>
          <a:prstGeom prst="rect">
            <a:avLst/>
          </a:prstGeom>
          <a:noFill/>
          <a:ln/>
        </p:spPr>
        <p:txBody>
          <a:bodyPr wrap="square" lIns="0" tIns="0" rIns="0" bIns="0" rtlCol="0" anchor="ctr"/>
          <a:lstStyle/>
          <a:p>
            <a:pPr indent="0" marL="0">
              <a:buNone/>
            </a:pPr>
            <a:r>
              <a:rPr lang="en-US" sz="1300" dirty="0">
                <a:solidFill>
                  <a:srgbClr val="8B95AB"/>
                </a:solidFill>
                <a:latin typeface="Calibri" pitchFamily="34" charset="0"/>
                <a:ea typeface="Calibri" pitchFamily="34" charset="-122"/>
                <a:cs typeface="Calibri" pitchFamily="34" charset="-120"/>
              </a:rPr>
              <a:t>The same question produces different words on every run. Exact-match assertions are meaningless.</a:t>
            </a:r>
            <a:endParaRPr lang="en-US" sz="1300" dirty="0"/>
          </a:p>
        </p:txBody>
      </p:sp>
      <p:sp>
        <p:nvSpPr>
          <p:cNvPr id="7" name="Shape 5"/>
          <p:cNvSpPr/>
          <p:nvPr/>
        </p:nvSpPr>
        <p:spPr>
          <a:xfrm>
            <a:off x="4434840" y="1645920"/>
            <a:ext cx="3291840" cy="3200400"/>
          </a:xfrm>
          <a:prstGeom prst="roundRect">
            <a:avLst>
              <a:gd name="adj" fmla="val 2286"/>
            </a:avLst>
          </a:prstGeom>
          <a:solidFill>
            <a:srgbClr val="171E2E"/>
          </a:solidFill>
          <a:ln w="12700">
            <a:solidFill>
              <a:srgbClr val="2A3550"/>
            </a:solidFill>
            <a:prstDash val="solid"/>
          </a:ln>
        </p:spPr>
      </p:sp>
      <p:sp>
        <p:nvSpPr>
          <p:cNvPr id="8" name="Text 6"/>
          <p:cNvSpPr/>
          <p:nvPr/>
        </p:nvSpPr>
        <p:spPr>
          <a:xfrm>
            <a:off x="4709160" y="1920240"/>
            <a:ext cx="731520" cy="731520"/>
          </a:xfrm>
          <a:prstGeom prst="rect">
            <a:avLst/>
          </a:prstGeom>
          <a:noFill/>
          <a:ln/>
        </p:spPr>
        <p:txBody>
          <a:bodyPr wrap="square" lIns="0" tIns="0" rIns="0" bIns="0" rtlCol="0" anchor="ctr"/>
          <a:lstStyle/>
          <a:p>
            <a:pPr indent="0" marL="0">
              <a:buNone/>
            </a:pPr>
            <a:r>
              <a:rPr lang="en-US" sz="4000" b="1" dirty="0">
                <a:solidFill>
                  <a:srgbClr val="5B8CFF"/>
                </a:solidFill>
                <a:latin typeface="Courier New" pitchFamily="34" charset="0"/>
                <a:ea typeface="Courier New" pitchFamily="34" charset="-122"/>
                <a:cs typeface="Courier New" pitchFamily="34" charset="-120"/>
              </a:rPr>
              <a:t>2</a:t>
            </a:r>
            <a:endParaRPr lang="en-US" sz="4000" dirty="0"/>
          </a:p>
        </p:txBody>
      </p:sp>
      <p:sp>
        <p:nvSpPr>
          <p:cNvPr id="9" name="Text 7"/>
          <p:cNvSpPr/>
          <p:nvPr/>
        </p:nvSpPr>
        <p:spPr>
          <a:xfrm>
            <a:off x="4709160" y="2743200"/>
            <a:ext cx="2743200" cy="822960"/>
          </a:xfrm>
          <a:prstGeom prst="rect">
            <a:avLst/>
          </a:prstGeom>
          <a:noFill/>
          <a:ln/>
        </p:spPr>
        <p:txBody>
          <a:bodyPr wrap="square" lIns="0" tIns="0" rIns="0" bIns="0" rtlCol="0" anchor="ctr"/>
          <a:lstStyle/>
          <a:p>
            <a:pPr indent="0" marL="0">
              <a:buNone/>
            </a:pPr>
            <a:r>
              <a:rPr lang="en-US" sz="1800" b="1" dirty="0">
                <a:solidFill>
                  <a:srgbClr val="E8ECF4"/>
                </a:solidFill>
                <a:latin typeface="Calibri" pitchFamily="34" charset="0"/>
                <a:ea typeface="Calibri" pitchFamily="34" charset="-122"/>
                <a:cs typeface="Calibri" pitchFamily="34" charset="-120"/>
              </a:rPr>
              <a:t>“Correct” is multi-dimensional</a:t>
            </a:r>
            <a:endParaRPr lang="en-US" sz="1800" dirty="0"/>
          </a:p>
        </p:txBody>
      </p:sp>
      <p:sp>
        <p:nvSpPr>
          <p:cNvPr id="10" name="Text 8"/>
          <p:cNvSpPr/>
          <p:nvPr/>
        </p:nvSpPr>
        <p:spPr>
          <a:xfrm>
            <a:off x="4709160" y="3566160"/>
            <a:ext cx="2743200" cy="1188720"/>
          </a:xfrm>
          <a:prstGeom prst="rect">
            <a:avLst/>
          </a:prstGeom>
          <a:noFill/>
          <a:ln/>
        </p:spPr>
        <p:txBody>
          <a:bodyPr wrap="square" lIns="0" tIns="0" rIns="0" bIns="0" rtlCol="0" anchor="ctr"/>
          <a:lstStyle/>
          <a:p>
            <a:pPr indent="0" marL="0">
              <a:buNone/>
            </a:pPr>
            <a:r>
              <a:rPr lang="en-US" sz="1300" dirty="0">
                <a:solidFill>
                  <a:srgbClr val="8B95AB"/>
                </a:solidFill>
                <a:latin typeface="Calibri" pitchFamily="34" charset="0"/>
                <a:ea typeface="Calibri" pitchFamily="34" charset="-122"/>
                <a:cs typeface="Calibri" pitchFamily="34" charset="-120"/>
              </a:rPr>
              <a:t>An answer can be accurate but ungrounded, relevant but inconsistent, safe but useless. One score hides the failure.</a:t>
            </a:r>
            <a:endParaRPr lang="en-US" sz="1300" dirty="0"/>
          </a:p>
        </p:txBody>
      </p:sp>
      <p:sp>
        <p:nvSpPr>
          <p:cNvPr id="11" name="Shape 9"/>
          <p:cNvSpPr/>
          <p:nvPr/>
        </p:nvSpPr>
        <p:spPr>
          <a:xfrm>
            <a:off x="8046720" y="1645920"/>
            <a:ext cx="3291840" cy="3200400"/>
          </a:xfrm>
          <a:prstGeom prst="roundRect">
            <a:avLst>
              <a:gd name="adj" fmla="val 2286"/>
            </a:avLst>
          </a:prstGeom>
          <a:solidFill>
            <a:srgbClr val="171E2E"/>
          </a:solidFill>
          <a:ln w="12700">
            <a:solidFill>
              <a:srgbClr val="2A3550"/>
            </a:solidFill>
            <a:prstDash val="solid"/>
          </a:ln>
        </p:spPr>
      </p:sp>
      <p:sp>
        <p:nvSpPr>
          <p:cNvPr id="12" name="Text 10"/>
          <p:cNvSpPr/>
          <p:nvPr/>
        </p:nvSpPr>
        <p:spPr>
          <a:xfrm>
            <a:off x="8321040" y="1920240"/>
            <a:ext cx="731520" cy="731520"/>
          </a:xfrm>
          <a:prstGeom prst="rect">
            <a:avLst/>
          </a:prstGeom>
          <a:noFill/>
          <a:ln/>
        </p:spPr>
        <p:txBody>
          <a:bodyPr wrap="square" lIns="0" tIns="0" rIns="0" bIns="0" rtlCol="0" anchor="ctr"/>
          <a:lstStyle/>
          <a:p>
            <a:pPr indent="0" marL="0">
              <a:buNone/>
            </a:pPr>
            <a:r>
              <a:rPr lang="en-US" sz="4000" b="1" dirty="0">
                <a:solidFill>
                  <a:srgbClr val="5B8CFF"/>
                </a:solidFill>
                <a:latin typeface="Courier New" pitchFamily="34" charset="0"/>
                <a:ea typeface="Courier New" pitchFamily="34" charset="-122"/>
                <a:cs typeface="Courier New" pitchFamily="34" charset="-120"/>
              </a:rPr>
              <a:t>3</a:t>
            </a:r>
            <a:endParaRPr lang="en-US" sz="4000" dirty="0"/>
          </a:p>
        </p:txBody>
      </p:sp>
      <p:sp>
        <p:nvSpPr>
          <p:cNvPr id="13" name="Text 11"/>
          <p:cNvSpPr/>
          <p:nvPr/>
        </p:nvSpPr>
        <p:spPr>
          <a:xfrm>
            <a:off x="8321040" y="2743200"/>
            <a:ext cx="2743200" cy="822960"/>
          </a:xfrm>
          <a:prstGeom prst="rect">
            <a:avLst/>
          </a:prstGeom>
          <a:noFill/>
          <a:ln/>
        </p:spPr>
        <p:txBody>
          <a:bodyPr wrap="square" lIns="0" tIns="0" rIns="0" bIns="0" rtlCol="0" anchor="ctr"/>
          <a:lstStyle/>
          <a:p>
            <a:pPr indent="0" marL="0">
              <a:buNone/>
            </a:pPr>
            <a:r>
              <a:rPr lang="en-US" sz="1800" b="1" dirty="0">
                <a:solidFill>
                  <a:srgbClr val="E8ECF4"/>
                </a:solidFill>
                <a:latin typeface="Calibri" pitchFamily="34" charset="0"/>
                <a:ea typeface="Calibri" pitchFamily="34" charset="-122"/>
                <a:cs typeface="Calibri" pitchFamily="34" charset="-120"/>
              </a:rPr>
              <a:t>The worst failures are confident</a:t>
            </a:r>
            <a:endParaRPr lang="en-US" sz="1800" dirty="0"/>
          </a:p>
        </p:txBody>
      </p:sp>
      <p:sp>
        <p:nvSpPr>
          <p:cNvPr id="14" name="Text 12"/>
          <p:cNvSpPr/>
          <p:nvPr/>
        </p:nvSpPr>
        <p:spPr>
          <a:xfrm>
            <a:off x="8321040" y="3566160"/>
            <a:ext cx="2743200" cy="1188720"/>
          </a:xfrm>
          <a:prstGeom prst="rect">
            <a:avLst/>
          </a:prstGeom>
          <a:noFill/>
          <a:ln/>
        </p:spPr>
        <p:txBody>
          <a:bodyPr wrap="square" lIns="0" tIns="0" rIns="0" bIns="0" rtlCol="0" anchor="ctr"/>
          <a:lstStyle/>
          <a:p>
            <a:pPr indent="0" marL="0">
              <a:buNone/>
            </a:pPr>
            <a:r>
              <a:rPr lang="en-US" sz="1300" dirty="0">
                <a:solidFill>
                  <a:srgbClr val="8B95AB"/>
                </a:solidFill>
                <a:latin typeface="Calibri" pitchFamily="34" charset="0"/>
                <a:ea typeface="Calibri" pitchFamily="34" charset="-122"/>
                <a:cs typeface="Calibri" pitchFamily="34" charset="-120"/>
              </a:rPr>
              <a:t>A fluent, wrong answer looks identical to a right one — until a customer acts on it.</a:t>
            </a:r>
            <a:endParaRPr lang="en-US" sz="1300" dirty="0"/>
          </a:p>
        </p:txBody>
      </p:sp>
      <p:sp>
        <p:nvSpPr>
          <p:cNvPr id="15" name="Text 13"/>
          <p:cNvSpPr/>
          <p:nvPr/>
        </p:nvSpPr>
        <p:spPr>
          <a:xfrm>
            <a:off x="822960" y="5394960"/>
            <a:ext cx="10515600" cy="548640"/>
          </a:xfrm>
          <a:prstGeom prst="rect">
            <a:avLst/>
          </a:prstGeom>
          <a:noFill/>
          <a:ln/>
        </p:spPr>
        <p:txBody>
          <a:bodyPr wrap="square" lIns="0" tIns="0" rIns="0" bIns="0" rtlCol="0" anchor="ctr"/>
          <a:lstStyle/>
          <a:p>
            <a:pPr indent="0" marL="0">
              <a:buNone/>
            </a:pPr>
            <a:r>
              <a:rPr lang="en-US" sz="1800" i="1" dirty="0">
                <a:solidFill>
                  <a:srgbClr val="FFB454"/>
                </a:solidFill>
                <a:latin typeface="Calibri" pitchFamily="34" charset="0"/>
                <a:ea typeface="Calibri" pitchFamily="34" charset="-122"/>
                <a:cs typeface="Calibri" pitchFamily="34" charset="-120"/>
              </a:rPr>
              <a:t>So the discovery mechanism defaults to: a customer finds it in production.</a:t>
            </a:r>
            <a:endParaRPr lang="en-US" sz="1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F1420"/>
        </a:solidFill>
      </p:bgPr>
    </p:bg>
    <p:spTree>
      <p:nvGrpSpPr>
        <p:cNvPr id="1" name=""/>
        <p:cNvGrpSpPr/>
        <p:nvPr/>
      </p:nvGrpSpPr>
      <p:grpSpPr>
        <a:xfrm>
          <a:off x="0" y="0"/>
          <a:ext cx="0" cy="0"/>
          <a:chOff x="0" y="0"/>
          <a:chExt cx="0" cy="0"/>
        </a:xfrm>
      </p:grpSpPr>
      <p:sp>
        <p:nvSpPr>
          <p:cNvPr id="2" name="Text 0"/>
          <p:cNvSpPr/>
          <p:nvPr/>
        </p:nvSpPr>
        <p:spPr>
          <a:xfrm>
            <a:off x="822960" y="502920"/>
            <a:ext cx="10515600" cy="731520"/>
          </a:xfrm>
          <a:prstGeom prst="rect">
            <a:avLst/>
          </a:prstGeom>
          <a:noFill/>
          <a:ln/>
        </p:spPr>
        <p:txBody>
          <a:bodyPr wrap="square" lIns="0" tIns="0" rIns="0" bIns="0" rtlCol="0" anchor="ctr"/>
          <a:lstStyle/>
          <a:p>
            <a:pPr indent="0" marL="0">
              <a:buNone/>
            </a:pPr>
            <a:r>
              <a:rPr lang="en-US" sz="3400" b="1" dirty="0">
                <a:solidFill>
                  <a:srgbClr val="E8ECF4"/>
                </a:solidFill>
                <a:latin typeface="Calibri" pitchFamily="34" charset="0"/>
                <a:ea typeface="Calibri" pitchFamily="34" charset="-122"/>
                <a:cs typeface="Calibri" pitchFamily="34" charset="-120"/>
              </a:rPr>
              <a:t>Where this comes from</a:t>
            </a:r>
            <a:endParaRPr lang="en-US" sz="3400" dirty="0"/>
          </a:p>
        </p:txBody>
      </p:sp>
      <p:sp>
        <p:nvSpPr>
          <p:cNvPr id="3" name="Text 1"/>
          <p:cNvSpPr/>
          <p:nvPr/>
        </p:nvSpPr>
        <p:spPr>
          <a:xfrm>
            <a:off x="822960" y="1371600"/>
            <a:ext cx="10515600" cy="914400"/>
          </a:xfrm>
          <a:prstGeom prst="rect">
            <a:avLst/>
          </a:prstGeom>
          <a:noFill/>
          <a:ln/>
        </p:spPr>
        <p:txBody>
          <a:bodyPr wrap="square" lIns="0" tIns="0" rIns="0" bIns="0" rtlCol="0" anchor="ctr"/>
          <a:lstStyle/>
          <a:p>
            <a:pPr indent="0" marL="0">
              <a:buNone/>
            </a:pPr>
            <a:r>
              <a:rPr lang="en-US" sz="1700" dirty="0">
                <a:solidFill>
                  <a:srgbClr val="8B95AB"/>
                </a:solidFill>
                <a:latin typeface="Calibri" pitchFamily="34" charset="0"/>
                <a:ea typeface="Calibri" pitchFamily="34" charset="-122"/>
                <a:cs typeface="Calibri" pitchFamily="34" charset="-120"/>
              </a:rPr>
              <a:t>Two years as SME on an enterprise generative AI search product. I was the person who found out an answer was wrong after the customer saw it — then worked out whether it was retrieval, content, or the prompt.</a:t>
            </a:r>
            <a:endParaRPr lang="en-US" sz="1700" dirty="0"/>
          </a:p>
        </p:txBody>
      </p:sp>
      <p:sp>
        <p:nvSpPr>
          <p:cNvPr id="4" name="Shape 2"/>
          <p:cNvSpPr/>
          <p:nvPr/>
        </p:nvSpPr>
        <p:spPr>
          <a:xfrm>
            <a:off x="822960" y="2560320"/>
            <a:ext cx="5074920" cy="1097280"/>
          </a:xfrm>
          <a:prstGeom prst="roundRect">
            <a:avLst>
              <a:gd name="adj" fmla="val 6667"/>
            </a:avLst>
          </a:prstGeom>
          <a:solidFill>
            <a:srgbClr val="1D2639"/>
          </a:solidFill>
          <a:ln w="12700">
            <a:solidFill>
              <a:srgbClr val="2A3550"/>
            </a:solidFill>
            <a:prstDash val="solid"/>
          </a:ln>
        </p:spPr>
      </p:sp>
      <p:sp>
        <p:nvSpPr>
          <p:cNvPr id="5" name="Text 3"/>
          <p:cNvSpPr/>
          <p:nvPr/>
        </p:nvSpPr>
        <p:spPr>
          <a:xfrm>
            <a:off x="1051560" y="2560320"/>
            <a:ext cx="4663440" cy="1097280"/>
          </a:xfrm>
          <a:prstGeom prst="rect">
            <a:avLst/>
          </a:prstGeom>
          <a:noFill/>
          <a:ln/>
        </p:spPr>
        <p:txBody>
          <a:bodyPr wrap="square" lIns="0" tIns="0" rIns="0" bIns="0" rtlCol="0" anchor="ctr"/>
          <a:lstStyle/>
          <a:p>
            <a:pPr indent="0" marL="0">
              <a:buNone/>
            </a:pPr>
            <a:r>
              <a:rPr lang="en-US" sz="1500" b="1" dirty="0">
                <a:solidFill>
                  <a:srgbClr val="FF5470"/>
                </a:solidFill>
                <a:latin typeface="Calibri" pitchFamily="34" charset="0"/>
                <a:ea typeface="Calibri" pitchFamily="34" charset="-122"/>
                <a:cs typeface="Calibri" pitchFamily="34" charset="-120"/>
              </a:rPr>
              <a:t>Ungrounded answers  </a:t>
            </a:r>
            <a:pPr indent="0" marL="0">
              <a:buNone/>
            </a:pPr>
            <a:r>
              <a:rPr lang="en-US" sz="1300" dirty="0">
                <a:solidFill>
                  <a:srgbClr val="8B95AB"/>
                </a:solidFill>
                <a:latin typeface="Calibri" pitchFamily="34" charset="0"/>
                <a:ea typeface="Calibri" pitchFamily="34" charset="-122"/>
                <a:cs typeface="Calibri" pitchFamily="34" charset="-120"/>
              </a:rPr>
              <a:t>— fluent claims with no source in the retrieved context</a:t>
            </a:r>
            <a:endParaRPr lang="en-US" sz="1500" dirty="0"/>
          </a:p>
        </p:txBody>
      </p:sp>
      <p:sp>
        <p:nvSpPr>
          <p:cNvPr id="6" name="Shape 4"/>
          <p:cNvSpPr/>
          <p:nvPr/>
        </p:nvSpPr>
        <p:spPr>
          <a:xfrm>
            <a:off x="6309360" y="2560320"/>
            <a:ext cx="5074920" cy="1097280"/>
          </a:xfrm>
          <a:prstGeom prst="roundRect">
            <a:avLst>
              <a:gd name="adj" fmla="val 6667"/>
            </a:avLst>
          </a:prstGeom>
          <a:solidFill>
            <a:srgbClr val="1D2639"/>
          </a:solidFill>
          <a:ln w="12700">
            <a:solidFill>
              <a:srgbClr val="2A3550"/>
            </a:solidFill>
            <a:prstDash val="solid"/>
          </a:ln>
        </p:spPr>
      </p:sp>
      <p:sp>
        <p:nvSpPr>
          <p:cNvPr id="7" name="Text 5"/>
          <p:cNvSpPr/>
          <p:nvPr/>
        </p:nvSpPr>
        <p:spPr>
          <a:xfrm>
            <a:off x="6537960" y="2560320"/>
            <a:ext cx="4663440" cy="1097280"/>
          </a:xfrm>
          <a:prstGeom prst="rect">
            <a:avLst/>
          </a:prstGeom>
          <a:noFill/>
          <a:ln/>
        </p:spPr>
        <p:txBody>
          <a:bodyPr wrap="square" lIns="0" tIns="0" rIns="0" bIns="0" rtlCol="0" anchor="ctr"/>
          <a:lstStyle/>
          <a:p>
            <a:pPr indent="0" marL="0">
              <a:buNone/>
            </a:pPr>
            <a:r>
              <a:rPr lang="en-US" sz="1500" b="1" dirty="0">
                <a:solidFill>
                  <a:srgbClr val="FF5470"/>
                </a:solidFill>
                <a:latin typeface="Calibri" pitchFamily="34" charset="0"/>
                <a:ea typeface="Calibri" pitchFamily="34" charset="-122"/>
                <a:cs typeface="Calibri" pitchFamily="34" charset="-120"/>
              </a:rPr>
              <a:t>Stale source content  </a:t>
            </a:r>
            <a:pPr indent="0" marL="0">
              <a:buNone/>
            </a:pPr>
            <a:r>
              <a:rPr lang="en-US" sz="1300" dirty="0">
                <a:solidFill>
                  <a:srgbClr val="8B95AB"/>
                </a:solidFill>
                <a:latin typeface="Calibri" pitchFamily="34" charset="0"/>
                <a:ea typeface="Calibri" pitchFamily="34" charset="-122"/>
                <a:cs typeface="Calibri" pitchFamily="34" charset="-120"/>
              </a:rPr>
              <a:t>— right document, outdated facts, confident delivery</a:t>
            </a:r>
            <a:endParaRPr lang="en-US" sz="1500" dirty="0"/>
          </a:p>
        </p:txBody>
      </p:sp>
      <p:sp>
        <p:nvSpPr>
          <p:cNvPr id="8" name="Shape 6"/>
          <p:cNvSpPr/>
          <p:nvPr/>
        </p:nvSpPr>
        <p:spPr>
          <a:xfrm>
            <a:off x="822960" y="3886200"/>
            <a:ext cx="5074920" cy="1097280"/>
          </a:xfrm>
          <a:prstGeom prst="roundRect">
            <a:avLst>
              <a:gd name="adj" fmla="val 6667"/>
            </a:avLst>
          </a:prstGeom>
          <a:solidFill>
            <a:srgbClr val="1D2639"/>
          </a:solidFill>
          <a:ln w="12700">
            <a:solidFill>
              <a:srgbClr val="2A3550"/>
            </a:solidFill>
            <a:prstDash val="solid"/>
          </a:ln>
        </p:spPr>
      </p:sp>
      <p:sp>
        <p:nvSpPr>
          <p:cNvPr id="9" name="Text 7"/>
          <p:cNvSpPr/>
          <p:nvPr/>
        </p:nvSpPr>
        <p:spPr>
          <a:xfrm>
            <a:off x="1051560" y="3886200"/>
            <a:ext cx="4663440" cy="1097280"/>
          </a:xfrm>
          <a:prstGeom prst="rect">
            <a:avLst/>
          </a:prstGeom>
          <a:noFill/>
          <a:ln/>
        </p:spPr>
        <p:txBody>
          <a:bodyPr wrap="square" lIns="0" tIns="0" rIns="0" bIns="0" rtlCol="0" anchor="ctr"/>
          <a:lstStyle/>
          <a:p>
            <a:pPr indent="0" marL="0">
              <a:buNone/>
            </a:pPr>
            <a:r>
              <a:rPr lang="en-US" sz="1500" b="1" dirty="0">
                <a:solidFill>
                  <a:srgbClr val="FF5470"/>
                </a:solidFill>
                <a:latin typeface="Calibri" pitchFamily="34" charset="0"/>
                <a:ea typeface="Calibri" pitchFamily="34" charset="-122"/>
                <a:cs typeface="Calibri" pitchFamily="34" charset="-120"/>
              </a:rPr>
              <a:t>Retrieval collapse  </a:t>
            </a:r>
            <a:pPr indent="0" marL="0">
              <a:buNone/>
            </a:pPr>
            <a:r>
              <a:rPr lang="en-US" sz="1300" dirty="0">
                <a:solidFill>
                  <a:srgbClr val="8B95AB"/>
                </a:solidFill>
                <a:latin typeface="Calibri" pitchFamily="34" charset="0"/>
                <a:ea typeface="Calibri" pitchFamily="34" charset="-122"/>
                <a:cs typeface="Calibri" pitchFamily="34" charset="-120"/>
              </a:rPr>
              <a:t>— ambiguous queries surfacing the wrong document entirely</a:t>
            </a:r>
            <a:endParaRPr lang="en-US" sz="1500" dirty="0"/>
          </a:p>
        </p:txBody>
      </p:sp>
      <p:sp>
        <p:nvSpPr>
          <p:cNvPr id="10" name="Shape 8"/>
          <p:cNvSpPr/>
          <p:nvPr/>
        </p:nvSpPr>
        <p:spPr>
          <a:xfrm>
            <a:off x="6309360" y="3886200"/>
            <a:ext cx="5074920" cy="1097280"/>
          </a:xfrm>
          <a:prstGeom prst="roundRect">
            <a:avLst>
              <a:gd name="adj" fmla="val 6667"/>
            </a:avLst>
          </a:prstGeom>
          <a:solidFill>
            <a:srgbClr val="1D2639"/>
          </a:solidFill>
          <a:ln w="12700">
            <a:solidFill>
              <a:srgbClr val="2A3550"/>
            </a:solidFill>
            <a:prstDash val="solid"/>
          </a:ln>
        </p:spPr>
      </p:sp>
      <p:sp>
        <p:nvSpPr>
          <p:cNvPr id="11" name="Text 9"/>
          <p:cNvSpPr/>
          <p:nvPr/>
        </p:nvSpPr>
        <p:spPr>
          <a:xfrm>
            <a:off x="6537960" y="3886200"/>
            <a:ext cx="4663440" cy="1097280"/>
          </a:xfrm>
          <a:prstGeom prst="rect">
            <a:avLst/>
          </a:prstGeom>
          <a:noFill/>
          <a:ln/>
        </p:spPr>
        <p:txBody>
          <a:bodyPr wrap="square" lIns="0" tIns="0" rIns="0" bIns="0" rtlCol="0" anchor="ctr"/>
          <a:lstStyle/>
          <a:p>
            <a:pPr indent="0" marL="0">
              <a:buNone/>
            </a:pPr>
            <a:r>
              <a:rPr lang="en-US" sz="1500" b="1" dirty="0">
                <a:solidFill>
                  <a:srgbClr val="FF5470"/>
                </a:solidFill>
                <a:latin typeface="Calibri" pitchFamily="34" charset="0"/>
                <a:ea typeface="Calibri" pitchFamily="34" charset="-122"/>
                <a:cs typeface="Calibri" pitchFamily="34" charset="-120"/>
              </a:rPr>
              <a:t>Scope creep  </a:t>
            </a:r>
            <a:pPr indent="0" marL="0">
              <a:buNone/>
            </a:pPr>
            <a:r>
              <a:rPr lang="en-US" sz="1300" dirty="0">
                <a:solidFill>
                  <a:srgbClr val="8B95AB"/>
                </a:solidFill>
                <a:latin typeface="Calibri" pitchFamily="34" charset="0"/>
                <a:ea typeface="Calibri" pitchFamily="34" charset="-122"/>
                <a:cs typeface="Calibri" pitchFamily="34" charset="-120"/>
              </a:rPr>
              <a:t>— answering questions the knowledge base can't support</a:t>
            </a:r>
            <a:endParaRPr lang="en-US" sz="1500" dirty="0"/>
          </a:p>
        </p:txBody>
      </p:sp>
      <p:sp>
        <p:nvSpPr>
          <p:cNvPr id="12" name="Text 10"/>
          <p:cNvSpPr/>
          <p:nvPr/>
        </p:nvSpPr>
        <p:spPr>
          <a:xfrm>
            <a:off x="822960" y="5623560"/>
            <a:ext cx="10515600" cy="548640"/>
          </a:xfrm>
          <a:prstGeom prst="rect">
            <a:avLst/>
          </a:prstGeom>
          <a:noFill/>
          <a:ln/>
        </p:spPr>
        <p:txBody>
          <a:bodyPr wrap="square" lIns="0" tIns="0" rIns="0" bIns="0" rtlCol="0" anchor="ctr"/>
          <a:lstStyle/>
          <a:p>
            <a:pPr indent="0" marL="0">
              <a:buNone/>
            </a:pPr>
            <a:r>
              <a:rPr lang="en-US" sz="1700" b="1" dirty="0">
                <a:solidFill>
                  <a:srgbClr val="3ECF8E"/>
                </a:solidFill>
                <a:latin typeface="Calibri" pitchFamily="34" charset="0"/>
                <a:ea typeface="Calibri" pitchFamily="34" charset="-122"/>
                <a:cs typeface="Calibri" pitchFamily="34" charset="-120"/>
              </a:rPr>
              <a:t>Every one of these was found in production. The harness moves that discovery upstream, before release.</a:t>
            </a:r>
            <a:endParaRPr lang="en-US" sz="17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F1420"/>
        </a:solidFill>
      </p:bgPr>
    </p:bg>
    <p:spTree>
      <p:nvGrpSpPr>
        <p:cNvPr id="1" name=""/>
        <p:cNvGrpSpPr/>
        <p:nvPr/>
      </p:nvGrpSpPr>
      <p:grpSpPr>
        <a:xfrm>
          <a:off x="0" y="0"/>
          <a:ext cx="0" cy="0"/>
          <a:chOff x="0" y="0"/>
          <a:chExt cx="0" cy="0"/>
        </a:xfrm>
      </p:grpSpPr>
      <p:sp>
        <p:nvSpPr>
          <p:cNvPr id="2" name="Text 0"/>
          <p:cNvSpPr/>
          <p:nvPr/>
        </p:nvSpPr>
        <p:spPr>
          <a:xfrm>
            <a:off x="822960" y="502920"/>
            <a:ext cx="10515600" cy="731520"/>
          </a:xfrm>
          <a:prstGeom prst="rect">
            <a:avLst/>
          </a:prstGeom>
          <a:noFill/>
          <a:ln/>
        </p:spPr>
        <p:txBody>
          <a:bodyPr wrap="square" lIns="0" tIns="0" rIns="0" bIns="0" rtlCol="0" anchor="ctr"/>
          <a:lstStyle/>
          <a:p>
            <a:pPr indent="0" marL="0">
              <a:buNone/>
            </a:pPr>
            <a:r>
              <a:rPr lang="en-US" sz="3400" b="1" dirty="0">
                <a:solidFill>
                  <a:srgbClr val="E8ECF4"/>
                </a:solidFill>
                <a:latin typeface="Calibri" pitchFamily="34" charset="0"/>
                <a:ea typeface="Calibri" pitchFamily="34" charset="-122"/>
                <a:cs typeface="Calibri" pitchFamily="34" charset="-120"/>
              </a:rPr>
              <a:t>Three moving parts, plain JSON in between</a:t>
            </a:r>
            <a:endParaRPr lang="en-US" sz="3400" dirty="0"/>
          </a:p>
        </p:txBody>
      </p:sp>
      <p:sp>
        <p:nvSpPr>
          <p:cNvPr id="3" name="Shape 1"/>
          <p:cNvSpPr/>
          <p:nvPr/>
        </p:nvSpPr>
        <p:spPr>
          <a:xfrm>
            <a:off x="822960" y="1828800"/>
            <a:ext cx="3383280" cy="2560320"/>
          </a:xfrm>
          <a:prstGeom prst="roundRect">
            <a:avLst>
              <a:gd name="adj" fmla="val 2857"/>
            </a:avLst>
          </a:prstGeom>
          <a:solidFill>
            <a:srgbClr val="171E2E"/>
          </a:solidFill>
          <a:ln w="12700">
            <a:solidFill>
              <a:srgbClr val="2A3550"/>
            </a:solidFill>
            <a:prstDash val="solid"/>
          </a:ln>
        </p:spPr>
      </p:sp>
      <p:sp>
        <p:nvSpPr>
          <p:cNvPr id="4" name="Text 2"/>
          <p:cNvSpPr/>
          <p:nvPr/>
        </p:nvSpPr>
        <p:spPr>
          <a:xfrm>
            <a:off x="1097280" y="2103120"/>
            <a:ext cx="2834640" cy="548640"/>
          </a:xfrm>
          <a:prstGeom prst="rect">
            <a:avLst/>
          </a:prstGeom>
          <a:noFill/>
          <a:ln/>
        </p:spPr>
        <p:txBody>
          <a:bodyPr wrap="square" lIns="0" tIns="0" rIns="0" bIns="0" rtlCol="0" anchor="ctr"/>
          <a:lstStyle/>
          <a:p>
            <a:pPr indent="0" marL="0">
              <a:buNone/>
            </a:pPr>
            <a:r>
              <a:rPr lang="en-US" sz="1900" b="1" dirty="0">
                <a:solidFill>
                  <a:srgbClr val="5B8CFF"/>
                </a:solidFill>
                <a:latin typeface="Calibri" pitchFamily="34" charset="0"/>
                <a:ea typeface="Calibri" pitchFamily="34" charset="-122"/>
                <a:cs typeface="Calibri" pitchFamily="34" charset="-120"/>
              </a:rPr>
              <a:t>Golden test set</a:t>
            </a:r>
            <a:endParaRPr lang="en-US" sz="1900" dirty="0"/>
          </a:p>
        </p:txBody>
      </p:sp>
      <p:sp>
        <p:nvSpPr>
          <p:cNvPr id="5" name="Text 3"/>
          <p:cNvSpPr/>
          <p:nvPr/>
        </p:nvSpPr>
        <p:spPr>
          <a:xfrm>
            <a:off x="1097280" y="2743200"/>
            <a:ext cx="2834640" cy="1463040"/>
          </a:xfrm>
          <a:prstGeom prst="rect">
            <a:avLst/>
          </a:prstGeom>
          <a:noFill/>
          <a:ln/>
        </p:spPr>
        <p:txBody>
          <a:bodyPr wrap="square" lIns="0" tIns="0" rIns="0" bIns="0" rtlCol="0" anchor="ctr"/>
          <a:lstStyle/>
          <a:p>
            <a:pPr indent="0" marL="0">
              <a:buNone/>
            </a:pPr>
            <a:r>
              <a:rPr lang="en-US" sz="1300" dirty="0">
                <a:solidFill>
                  <a:srgbClr val="8B95AB"/>
                </a:solidFill>
                <a:latin typeface="Calibri" pitchFamily="34" charset="0"/>
                <a:ea typeface="Calibri" pitchFamily="34" charset="-122"/>
                <a:cs typeface="Calibri" pitchFamily="34" charset="-120"/>
              </a:rPr>
              <a:t>20 real queries with known-good expectations: expected facts, expected source doc, must-refuse flags</a:t>
            </a:r>
            <a:endParaRPr lang="en-US" sz="1300" dirty="0"/>
          </a:p>
        </p:txBody>
      </p:sp>
      <p:sp>
        <p:nvSpPr>
          <p:cNvPr id="6" name="Text 4"/>
          <p:cNvSpPr/>
          <p:nvPr/>
        </p:nvSpPr>
        <p:spPr>
          <a:xfrm>
            <a:off x="4224528" y="2834640"/>
            <a:ext cx="457200" cy="548640"/>
          </a:xfrm>
          <a:prstGeom prst="rect">
            <a:avLst/>
          </a:prstGeom>
          <a:noFill/>
          <a:ln/>
        </p:spPr>
        <p:txBody>
          <a:bodyPr wrap="square" lIns="0" tIns="0" rIns="0" bIns="0" rtlCol="0" anchor="ctr"/>
          <a:lstStyle/>
          <a:p>
            <a:pPr indent="0" marL="0">
              <a:buNone/>
            </a:pPr>
            <a:r>
              <a:rPr lang="en-US" sz="2800" b="1" dirty="0">
                <a:solidFill>
                  <a:srgbClr val="8B95AB"/>
                </a:solidFill>
                <a:latin typeface="Calibri" pitchFamily="34" charset="0"/>
                <a:ea typeface="Calibri" pitchFamily="34" charset="-122"/>
                <a:cs typeface="Calibri" pitchFamily="34" charset="-120"/>
              </a:rPr>
              <a:t>→</a:t>
            </a:r>
            <a:endParaRPr lang="en-US" sz="2800" dirty="0"/>
          </a:p>
        </p:txBody>
      </p:sp>
      <p:sp>
        <p:nvSpPr>
          <p:cNvPr id="7" name="Shape 5"/>
          <p:cNvSpPr/>
          <p:nvPr/>
        </p:nvSpPr>
        <p:spPr>
          <a:xfrm>
            <a:off x="4709160" y="1828800"/>
            <a:ext cx="3383280" cy="2560320"/>
          </a:xfrm>
          <a:prstGeom prst="roundRect">
            <a:avLst>
              <a:gd name="adj" fmla="val 2857"/>
            </a:avLst>
          </a:prstGeom>
          <a:solidFill>
            <a:srgbClr val="171E2E"/>
          </a:solidFill>
          <a:ln w="12700">
            <a:solidFill>
              <a:srgbClr val="2A3550"/>
            </a:solidFill>
            <a:prstDash val="solid"/>
          </a:ln>
        </p:spPr>
      </p:sp>
      <p:sp>
        <p:nvSpPr>
          <p:cNvPr id="8" name="Text 6"/>
          <p:cNvSpPr/>
          <p:nvPr/>
        </p:nvSpPr>
        <p:spPr>
          <a:xfrm>
            <a:off x="4983480" y="2103120"/>
            <a:ext cx="2834640" cy="548640"/>
          </a:xfrm>
          <a:prstGeom prst="rect">
            <a:avLst/>
          </a:prstGeom>
          <a:noFill/>
          <a:ln/>
        </p:spPr>
        <p:txBody>
          <a:bodyPr wrap="square" lIns="0" tIns="0" rIns="0" bIns="0" rtlCol="0" anchor="ctr"/>
          <a:lstStyle/>
          <a:p>
            <a:pPr indent="0" marL="0">
              <a:buNone/>
            </a:pPr>
            <a:r>
              <a:rPr lang="en-US" sz="1900" b="1" dirty="0">
                <a:solidFill>
                  <a:srgbClr val="3ECF8E"/>
                </a:solidFill>
                <a:latin typeface="Calibri" pitchFamily="34" charset="0"/>
                <a:ea typeface="Calibri" pitchFamily="34" charset="-122"/>
                <a:cs typeface="Calibri" pitchFamily="34" charset="-120"/>
              </a:rPr>
              <a:t>Five scorers</a:t>
            </a:r>
            <a:endParaRPr lang="en-US" sz="1900" dirty="0"/>
          </a:p>
        </p:txBody>
      </p:sp>
      <p:sp>
        <p:nvSpPr>
          <p:cNvPr id="9" name="Text 7"/>
          <p:cNvSpPr/>
          <p:nvPr/>
        </p:nvSpPr>
        <p:spPr>
          <a:xfrm>
            <a:off x="4983480" y="2743200"/>
            <a:ext cx="2834640" cy="1463040"/>
          </a:xfrm>
          <a:prstGeom prst="rect">
            <a:avLst/>
          </a:prstGeom>
          <a:noFill/>
          <a:ln/>
        </p:spPr>
        <p:txBody>
          <a:bodyPr wrap="square" lIns="0" tIns="0" rIns="0" bIns="0" rtlCol="0" anchor="ctr"/>
          <a:lstStyle/>
          <a:p>
            <a:pPr indent="0" marL="0">
              <a:buNone/>
            </a:pPr>
            <a:r>
              <a:rPr lang="en-US" sz="1300" dirty="0">
                <a:solidFill>
                  <a:srgbClr val="8B95AB"/>
                </a:solidFill>
                <a:latin typeface="Calibri" pitchFamily="34" charset="0"/>
                <a:ea typeface="Calibri" pitchFamily="34" charset="-122"/>
                <a:cs typeface="Calibri" pitchFamily="34" charset="-120"/>
              </a:rPr>
              <a:t>accuracy · grounding · relevance · consistency · safety — scored per answer, aggregated per run</a:t>
            </a:r>
            <a:endParaRPr lang="en-US" sz="1300" dirty="0"/>
          </a:p>
        </p:txBody>
      </p:sp>
      <p:sp>
        <p:nvSpPr>
          <p:cNvPr id="10" name="Text 8"/>
          <p:cNvSpPr/>
          <p:nvPr/>
        </p:nvSpPr>
        <p:spPr>
          <a:xfrm>
            <a:off x="8110728" y="2834640"/>
            <a:ext cx="457200" cy="548640"/>
          </a:xfrm>
          <a:prstGeom prst="rect">
            <a:avLst/>
          </a:prstGeom>
          <a:noFill/>
          <a:ln/>
        </p:spPr>
        <p:txBody>
          <a:bodyPr wrap="square" lIns="0" tIns="0" rIns="0" bIns="0" rtlCol="0" anchor="ctr"/>
          <a:lstStyle/>
          <a:p>
            <a:pPr indent="0" marL="0">
              <a:buNone/>
            </a:pPr>
            <a:r>
              <a:rPr lang="en-US" sz="2800" b="1" dirty="0">
                <a:solidFill>
                  <a:srgbClr val="8B95AB"/>
                </a:solidFill>
                <a:latin typeface="Calibri" pitchFamily="34" charset="0"/>
                <a:ea typeface="Calibri" pitchFamily="34" charset="-122"/>
                <a:cs typeface="Calibri" pitchFamily="34" charset="-120"/>
              </a:rPr>
              <a:t>→</a:t>
            </a:r>
            <a:endParaRPr lang="en-US" sz="2800" dirty="0"/>
          </a:p>
        </p:txBody>
      </p:sp>
      <p:sp>
        <p:nvSpPr>
          <p:cNvPr id="11" name="Shape 9"/>
          <p:cNvSpPr/>
          <p:nvPr/>
        </p:nvSpPr>
        <p:spPr>
          <a:xfrm>
            <a:off x="8595360" y="1828800"/>
            <a:ext cx="3383280" cy="2560320"/>
          </a:xfrm>
          <a:prstGeom prst="roundRect">
            <a:avLst>
              <a:gd name="adj" fmla="val 2857"/>
            </a:avLst>
          </a:prstGeom>
          <a:solidFill>
            <a:srgbClr val="171E2E"/>
          </a:solidFill>
          <a:ln w="12700">
            <a:solidFill>
              <a:srgbClr val="2A3550"/>
            </a:solidFill>
            <a:prstDash val="solid"/>
          </a:ln>
        </p:spPr>
      </p:sp>
      <p:sp>
        <p:nvSpPr>
          <p:cNvPr id="12" name="Text 10"/>
          <p:cNvSpPr/>
          <p:nvPr/>
        </p:nvSpPr>
        <p:spPr>
          <a:xfrm>
            <a:off x="8869680" y="2103120"/>
            <a:ext cx="2834640" cy="548640"/>
          </a:xfrm>
          <a:prstGeom prst="rect">
            <a:avLst/>
          </a:prstGeom>
          <a:noFill/>
          <a:ln/>
        </p:spPr>
        <p:txBody>
          <a:bodyPr wrap="square" lIns="0" tIns="0" rIns="0" bIns="0" rtlCol="0" anchor="ctr"/>
          <a:lstStyle/>
          <a:p>
            <a:pPr indent="0" marL="0">
              <a:buNone/>
            </a:pPr>
            <a:r>
              <a:rPr lang="en-US" sz="1900" b="1" dirty="0">
                <a:solidFill>
                  <a:srgbClr val="FF5470"/>
                </a:solidFill>
                <a:latin typeface="Calibri" pitchFamily="34" charset="0"/>
                <a:ea typeface="Calibri" pitchFamily="34" charset="-122"/>
                <a:cs typeface="Calibri" pitchFamily="34" charset="-120"/>
              </a:rPr>
              <a:t>Regression gate</a:t>
            </a:r>
            <a:endParaRPr lang="en-US" sz="1900" dirty="0"/>
          </a:p>
        </p:txBody>
      </p:sp>
      <p:sp>
        <p:nvSpPr>
          <p:cNvPr id="13" name="Text 11"/>
          <p:cNvSpPr/>
          <p:nvPr/>
        </p:nvSpPr>
        <p:spPr>
          <a:xfrm>
            <a:off x="8869680" y="2743200"/>
            <a:ext cx="2834640" cy="1463040"/>
          </a:xfrm>
          <a:prstGeom prst="rect">
            <a:avLst/>
          </a:prstGeom>
          <a:noFill/>
          <a:ln/>
        </p:spPr>
        <p:txBody>
          <a:bodyPr wrap="square" lIns="0" tIns="0" rIns="0" bIns="0" rtlCol="0" anchor="ctr"/>
          <a:lstStyle/>
          <a:p>
            <a:pPr indent="0" marL="0">
              <a:buNone/>
            </a:pPr>
            <a:r>
              <a:rPr lang="en-US" sz="1300" dirty="0">
                <a:solidFill>
                  <a:srgbClr val="8B95AB"/>
                </a:solidFill>
                <a:latin typeface="Calibri" pitchFamily="34" charset="0"/>
                <a:ea typeface="Calibri" pitchFamily="34" charset="-122"/>
                <a:cs typeface="Calibri" pitchFamily="34" charset="-120"/>
              </a:rPr>
              <a:t>diff candidate vs baseline; any dimension dropping past its threshold fails the build, exit 1</a:t>
            </a:r>
            <a:endParaRPr lang="en-US" sz="1300" dirty="0"/>
          </a:p>
        </p:txBody>
      </p:sp>
      <p:sp>
        <p:nvSpPr>
          <p:cNvPr id="14" name="Text 12"/>
          <p:cNvSpPr/>
          <p:nvPr/>
        </p:nvSpPr>
        <p:spPr>
          <a:xfrm>
            <a:off x="822960" y="4846320"/>
            <a:ext cx="10515600" cy="914400"/>
          </a:xfrm>
          <a:prstGeom prst="rect">
            <a:avLst/>
          </a:prstGeom>
          <a:noFill/>
          <a:ln/>
        </p:spPr>
        <p:txBody>
          <a:bodyPr wrap="square" lIns="0" tIns="0" rIns="0" bIns="0" rtlCol="0" anchor="ctr"/>
          <a:lstStyle/>
          <a:p>
            <a:pPr indent="0" marL="0">
              <a:buNone/>
            </a:pPr>
            <a:r>
              <a:rPr lang="en-US" sz="1500" dirty="0">
                <a:solidFill>
                  <a:srgbClr val="8B95AB"/>
                </a:solidFill>
                <a:latin typeface="Calibri" pitchFamily="34" charset="0"/>
                <a:ea typeface="Calibri" pitchFamily="34" charset="-122"/>
                <a:cs typeface="Calibri" pitchFamily="34" charset="-120"/>
              </a:rPr>
              <a:t>Any bot plugs in through one interface: </a:t>
            </a:r>
            <a:pPr indent="0" marL="0">
              <a:buNone/>
            </a:pPr>
            <a:r>
              <a:rPr lang="en-US" sz="1500" dirty="0">
                <a:solidFill>
                  <a:srgbClr val="5B8CFF"/>
                </a:solidFill>
                <a:latin typeface="Courier New" pitchFamily="34" charset="0"/>
                <a:ea typeface="Courier New" pitchFamily="34" charset="-122"/>
                <a:cs typeface="Courier New" pitchFamily="34" charset="-120"/>
              </a:rPr>
              <a:t>answer(query) → {answer, retrieved_context}</a:t>
            </a:r>
            <a:pPr indent="0" marL="0">
              <a:buNone/>
            </a:pPr>
            <a:r>
              <a:rPr lang="en-US" sz="1500" dirty="0">
                <a:solidFill>
                  <a:srgbClr val="8B95AB"/>
                </a:solidFill>
                <a:latin typeface="Calibri" pitchFamily="34" charset="0"/>
                <a:ea typeface="Calibri" pitchFamily="34" charset="-122"/>
                <a:cs typeface="Calibri" pitchFamily="34" charset="-120"/>
              </a:rPr>
              <a:t>.  If the API doesn't expose what it retrieved, grounding can't be scored — that's a product requirement, not a test detail.</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F1420"/>
        </a:solidFill>
      </p:bgPr>
    </p:bg>
    <p:spTree>
      <p:nvGrpSpPr>
        <p:cNvPr id="1" name=""/>
        <p:cNvGrpSpPr/>
        <p:nvPr/>
      </p:nvGrpSpPr>
      <p:grpSpPr>
        <a:xfrm>
          <a:off x="0" y="0"/>
          <a:ext cx="0" cy="0"/>
          <a:chOff x="0" y="0"/>
          <a:chExt cx="0" cy="0"/>
        </a:xfrm>
      </p:grpSpPr>
      <p:sp>
        <p:nvSpPr>
          <p:cNvPr id="2" name="Text 0"/>
          <p:cNvSpPr/>
          <p:nvPr/>
        </p:nvSpPr>
        <p:spPr>
          <a:xfrm>
            <a:off x="822960" y="502920"/>
            <a:ext cx="10515600" cy="731520"/>
          </a:xfrm>
          <a:prstGeom prst="rect">
            <a:avLst/>
          </a:prstGeom>
          <a:noFill/>
          <a:ln/>
        </p:spPr>
        <p:txBody>
          <a:bodyPr wrap="square" lIns="0" tIns="0" rIns="0" bIns="0" rtlCol="0" anchor="ctr"/>
          <a:lstStyle/>
          <a:p>
            <a:pPr indent="0" marL="0">
              <a:buNone/>
            </a:pPr>
            <a:r>
              <a:rPr lang="en-US" sz="3400" b="1" dirty="0">
                <a:solidFill>
                  <a:srgbClr val="E8ECF4"/>
                </a:solidFill>
                <a:latin typeface="Calibri" pitchFamily="34" charset="0"/>
                <a:ea typeface="Calibri" pitchFamily="34" charset="-122"/>
                <a:cs typeface="Calibri" pitchFamily="34" charset="-120"/>
              </a:rPr>
              <a:t>Five dimensions of “correct”</a:t>
            </a:r>
            <a:endParaRPr lang="en-US" sz="3400" dirty="0"/>
          </a:p>
        </p:txBody>
      </p:sp>
      <p:sp>
        <p:nvSpPr>
          <p:cNvPr id="3" name="Text 1"/>
          <p:cNvSpPr/>
          <p:nvPr/>
        </p:nvSpPr>
        <p:spPr>
          <a:xfrm>
            <a:off x="1005840" y="1554480"/>
            <a:ext cx="2103120" cy="365760"/>
          </a:xfrm>
          <a:prstGeom prst="rect">
            <a:avLst/>
          </a:prstGeom>
          <a:noFill/>
          <a:ln/>
        </p:spPr>
        <p:txBody>
          <a:bodyPr wrap="square" lIns="0" tIns="0" rIns="0" bIns="0" rtlCol="0" anchor="ctr"/>
          <a:lstStyle/>
          <a:p>
            <a:pPr indent="0" marL="0">
              <a:buNone/>
            </a:pPr>
            <a:r>
              <a:rPr lang="en-US" sz="1300" b="1" dirty="0">
                <a:solidFill>
                  <a:srgbClr val="8B95AB"/>
                </a:solidFill>
                <a:latin typeface="Calibri" pitchFamily="34" charset="0"/>
                <a:ea typeface="Calibri" pitchFamily="34" charset="-122"/>
                <a:cs typeface="Calibri" pitchFamily="34" charset="-120"/>
              </a:rPr>
              <a:t>dimension</a:t>
            </a:r>
            <a:endParaRPr lang="en-US" sz="1300" dirty="0"/>
          </a:p>
        </p:txBody>
      </p:sp>
      <p:sp>
        <p:nvSpPr>
          <p:cNvPr id="4" name="Text 2"/>
          <p:cNvSpPr/>
          <p:nvPr/>
        </p:nvSpPr>
        <p:spPr>
          <a:xfrm>
            <a:off x="3200400" y="1554480"/>
            <a:ext cx="4846320" cy="365760"/>
          </a:xfrm>
          <a:prstGeom prst="rect">
            <a:avLst/>
          </a:prstGeom>
          <a:noFill/>
          <a:ln/>
        </p:spPr>
        <p:txBody>
          <a:bodyPr wrap="square" lIns="0" tIns="0" rIns="0" bIns="0" rtlCol="0" anchor="ctr"/>
          <a:lstStyle/>
          <a:p>
            <a:pPr indent="0" marL="0">
              <a:buNone/>
            </a:pPr>
            <a:r>
              <a:rPr lang="en-US" sz="1300" b="1" dirty="0">
                <a:solidFill>
                  <a:srgbClr val="8B95AB"/>
                </a:solidFill>
                <a:latin typeface="Calibri" pitchFamily="34" charset="0"/>
                <a:ea typeface="Calibri" pitchFamily="34" charset="-122"/>
                <a:cs typeface="Calibri" pitchFamily="34" charset="-120"/>
              </a:rPr>
              <a:t>the question it answers</a:t>
            </a:r>
            <a:endParaRPr lang="en-US" sz="1300" dirty="0"/>
          </a:p>
        </p:txBody>
      </p:sp>
      <p:sp>
        <p:nvSpPr>
          <p:cNvPr id="5" name="Text 3"/>
          <p:cNvSpPr/>
          <p:nvPr/>
        </p:nvSpPr>
        <p:spPr>
          <a:xfrm>
            <a:off x="8229600" y="1554480"/>
            <a:ext cx="3017520" cy="365760"/>
          </a:xfrm>
          <a:prstGeom prst="rect">
            <a:avLst/>
          </a:prstGeom>
          <a:noFill/>
          <a:ln/>
        </p:spPr>
        <p:txBody>
          <a:bodyPr wrap="square" lIns="0" tIns="0" rIns="0" bIns="0" rtlCol="0" anchor="ctr"/>
          <a:lstStyle/>
          <a:p>
            <a:pPr indent="0" marL="0">
              <a:buNone/>
            </a:pPr>
            <a:r>
              <a:rPr lang="en-US" sz="1300" b="1" dirty="0">
                <a:solidFill>
                  <a:srgbClr val="8B95AB"/>
                </a:solidFill>
                <a:latin typeface="Calibri" pitchFamily="34" charset="0"/>
                <a:ea typeface="Calibri" pitchFamily="34" charset="-122"/>
                <a:cs typeface="Calibri" pitchFamily="34" charset="-120"/>
              </a:rPr>
              <a:t>catches</a:t>
            </a:r>
            <a:endParaRPr lang="en-US" sz="1300" dirty="0"/>
          </a:p>
        </p:txBody>
      </p:sp>
      <p:sp>
        <p:nvSpPr>
          <p:cNvPr id="6" name="Shape 4"/>
          <p:cNvSpPr/>
          <p:nvPr/>
        </p:nvSpPr>
        <p:spPr>
          <a:xfrm>
            <a:off x="822960" y="2011680"/>
            <a:ext cx="10515600" cy="640080"/>
          </a:xfrm>
          <a:prstGeom prst="roundRect">
            <a:avLst>
              <a:gd name="adj" fmla="val 11429"/>
            </a:avLst>
          </a:prstGeom>
          <a:solidFill>
            <a:srgbClr val="1D2639"/>
          </a:solidFill>
          <a:ln w="12700">
            <a:solidFill>
              <a:srgbClr val="2A3550"/>
            </a:solidFill>
            <a:prstDash val="solid"/>
          </a:ln>
        </p:spPr>
      </p:sp>
      <p:sp>
        <p:nvSpPr>
          <p:cNvPr id="7" name="Text 5"/>
          <p:cNvSpPr/>
          <p:nvPr/>
        </p:nvSpPr>
        <p:spPr>
          <a:xfrm>
            <a:off x="1005840" y="2011680"/>
            <a:ext cx="2103120" cy="640080"/>
          </a:xfrm>
          <a:prstGeom prst="rect">
            <a:avLst/>
          </a:prstGeom>
          <a:noFill/>
          <a:ln/>
        </p:spPr>
        <p:txBody>
          <a:bodyPr wrap="square" lIns="0" tIns="0" rIns="0" bIns="0" rtlCol="0" anchor="ctr"/>
          <a:lstStyle/>
          <a:p>
            <a:pPr indent="0" marL="0">
              <a:buNone/>
            </a:pPr>
            <a:r>
              <a:rPr lang="en-US" sz="1500" b="1" dirty="0">
                <a:solidFill>
                  <a:srgbClr val="5B8CFF"/>
                </a:solidFill>
                <a:latin typeface="Courier New" pitchFamily="34" charset="0"/>
                <a:ea typeface="Courier New" pitchFamily="34" charset="-122"/>
                <a:cs typeface="Courier New" pitchFamily="34" charset="-120"/>
              </a:rPr>
              <a:t>accuracy</a:t>
            </a:r>
            <a:endParaRPr lang="en-US" sz="1500" dirty="0"/>
          </a:p>
        </p:txBody>
      </p:sp>
      <p:sp>
        <p:nvSpPr>
          <p:cNvPr id="8" name="Text 6"/>
          <p:cNvSpPr/>
          <p:nvPr/>
        </p:nvSpPr>
        <p:spPr>
          <a:xfrm>
            <a:off x="3200400" y="2011680"/>
            <a:ext cx="4846320" cy="640080"/>
          </a:xfrm>
          <a:prstGeom prst="rect">
            <a:avLst/>
          </a:prstGeom>
          <a:noFill/>
          <a:ln/>
        </p:spPr>
        <p:txBody>
          <a:bodyPr wrap="square" lIns="0" tIns="0" rIns="0" bIns="0" rtlCol="0" anchor="ctr"/>
          <a:lstStyle/>
          <a:p>
            <a:pPr indent="0" marL="0">
              <a:buNone/>
            </a:pPr>
            <a:r>
              <a:rPr lang="en-US" sz="1350" dirty="0">
                <a:solidFill>
                  <a:srgbClr val="E8ECF4"/>
                </a:solidFill>
                <a:latin typeface="Calibri" pitchFamily="34" charset="0"/>
                <a:ea typeface="Calibri" pitchFamily="34" charset="-122"/>
                <a:cs typeface="Calibri" pitchFamily="34" charset="-120"/>
              </a:rPr>
              <a:t>Does the answer contain the facts it must contain?</a:t>
            </a:r>
            <a:endParaRPr lang="en-US" sz="1350" dirty="0"/>
          </a:p>
        </p:txBody>
      </p:sp>
      <p:sp>
        <p:nvSpPr>
          <p:cNvPr id="9" name="Text 7"/>
          <p:cNvSpPr/>
          <p:nvPr/>
        </p:nvSpPr>
        <p:spPr>
          <a:xfrm>
            <a:off x="8229600" y="2011680"/>
            <a:ext cx="3017520" cy="640080"/>
          </a:xfrm>
          <a:prstGeom prst="rect">
            <a:avLst/>
          </a:prstGeom>
          <a:noFill/>
          <a:ln/>
        </p:spPr>
        <p:txBody>
          <a:bodyPr wrap="square" lIns="0" tIns="0" rIns="0" bIns="0" rtlCol="0" anchor="ctr"/>
          <a:lstStyle/>
          <a:p>
            <a:pPr indent="0" marL="0">
              <a:buNone/>
            </a:pPr>
            <a:r>
              <a:rPr lang="en-US" sz="1350" dirty="0">
                <a:solidFill>
                  <a:srgbClr val="FF5470"/>
                </a:solidFill>
                <a:latin typeface="Calibri" pitchFamily="34" charset="0"/>
                <a:ea typeface="Calibri" pitchFamily="34" charset="-122"/>
                <a:cs typeface="Calibri" pitchFamily="34" charset="-120"/>
              </a:rPr>
              <a:t>wrong or missing information</a:t>
            </a:r>
            <a:endParaRPr lang="en-US" sz="1350" dirty="0"/>
          </a:p>
        </p:txBody>
      </p:sp>
      <p:sp>
        <p:nvSpPr>
          <p:cNvPr id="10" name="Shape 8"/>
          <p:cNvSpPr/>
          <p:nvPr/>
        </p:nvSpPr>
        <p:spPr>
          <a:xfrm>
            <a:off x="822960" y="2788920"/>
            <a:ext cx="10515600" cy="640080"/>
          </a:xfrm>
          <a:prstGeom prst="roundRect">
            <a:avLst>
              <a:gd name="adj" fmla="val 11429"/>
            </a:avLst>
          </a:prstGeom>
          <a:solidFill>
            <a:srgbClr val="171E2E"/>
          </a:solidFill>
          <a:ln w="12700">
            <a:solidFill>
              <a:srgbClr val="2A3550"/>
            </a:solidFill>
            <a:prstDash val="solid"/>
          </a:ln>
        </p:spPr>
      </p:sp>
      <p:sp>
        <p:nvSpPr>
          <p:cNvPr id="11" name="Text 9"/>
          <p:cNvSpPr/>
          <p:nvPr/>
        </p:nvSpPr>
        <p:spPr>
          <a:xfrm>
            <a:off x="1005840" y="2788920"/>
            <a:ext cx="2103120" cy="640080"/>
          </a:xfrm>
          <a:prstGeom prst="rect">
            <a:avLst/>
          </a:prstGeom>
          <a:noFill/>
          <a:ln/>
        </p:spPr>
        <p:txBody>
          <a:bodyPr wrap="square" lIns="0" tIns="0" rIns="0" bIns="0" rtlCol="0" anchor="ctr"/>
          <a:lstStyle/>
          <a:p>
            <a:pPr indent="0" marL="0">
              <a:buNone/>
            </a:pPr>
            <a:r>
              <a:rPr lang="en-US" sz="1500" b="1" dirty="0">
                <a:solidFill>
                  <a:srgbClr val="5B8CFF"/>
                </a:solidFill>
                <a:latin typeface="Courier New" pitchFamily="34" charset="0"/>
                <a:ea typeface="Courier New" pitchFamily="34" charset="-122"/>
                <a:cs typeface="Courier New" pitchFamily="34" charset="-120"/>
              </a:rPr>
              <a:t>grounding</a:t>
            </a:r>
            <a:endParaRPr lang="en-US" sz="1500" dirty="0"/>
          </a:p>
        </p:txBody>
      </p:sp>
      <p:sp>
        <p:nvSpPr>
          <p:cNvPr id="12" name="Text 10"/>
          <p:cNvSpPr/>
          <p:nvPr/>
        </p:nvSpPr>
        <p:spPr>
          <a:xfrm>
            <a:off x="3200400" y="2788920"/>
            <a:ext cx="4846320" cy="640080"/>
          </a:xfrm>
          <a:prstGeom prst="rect">
            <a:avLst/>
          </a:prstGeom>
          <a:noFill/>
          <a:ln/>
        </p:spPr>
        <p:txBody>
          <a:bodyPr wrap="square" lIns="0" tIns="0" rIns="0" bIns="0" rtlCol="0" anchor="ctr"/>
          <a:lstStyle/>
          <a:p>
            <a:pPr indent="0" marL="0">
              <a:buNone/>
            </a:pPr>
            <a:r>
              <a:rPr lang="en-US" sz="1350" dirty="0">
                <a:solidFill>
                  <a:srgbClr val="E8ECF4"/>
                </a:solidFill>
                <a:latin typeface="Calibri" pitchFamily="34" charset="0"/>
                <a:ea typeface="Calibri" pitchFamily="34" charset="-122"/>
                <a:cs typeface="Calibri" pitchFamily="34" charset="-120"/>
              </a:rPr>
              <a:t>Is every claim traceable to the retrieved context?</a:t>
            </a:r>
            <a:endParaRPr lang="en-US" sz="1350" dirty="0"/>
          </a:p>
        </p:txBody>
      </p:sp>
      <p:sp>
        <p:nvSpPr>
          <p:cNvPr id="13" name="Text 11"/>
          <p:cNvSpPr/>
          <p:nvPr/>
        </p:nvSpPr>
        <p:spPr>
          <a:xfrm>
            <a:off x="8229600" y="2788920"/>
            <a:ext cx="3017520" cy="640080"/>
          </a:xfrm>
          <a:prstGeom prst="rect">
            <a:avLst/>
          </a:prstGeom>
          <a:noFill/>
          <a:ln/>
        </p:spPr>
        <p:txBody>
          <a:bodyPr wrap="square" lIns="0" tIns="0" rIns="0" bIns="0" rtlCol="0" anchor="ctr"/>
          <a:lstStyle/>
          <a:p>
            <a:pPr indent="0" marL="0">
              <a:buNone/>
            </a:pPr>
            <a:r>
              <a:rPr lang="en-US" sz="1350" dirty="0">
                <a:solidFill>
                  <a:srgbClr val="FF5470"/>
                </a:solidFill>
                <a:latin typeface="Calibri" pitchFamily="34" charset="0"/>
                <a:ea typeface="Calibri" pitchFamily="34" charset="-122"/>
                <a:cs typeface="Calibri" pitchFamily="34" charset="-120"/>
              </a:rPr>
              <a:t>hallucination</a:t>
            </a:r>
            <a:endParaRPr lang="en-US" sz="1350" dirty="0"/>
          </a:p>
        </p:txBody>
      </p:sp>
      <p:sp>
        <p:nvSpPr>
          <p:cNvPr id="14" name="Shape 12"/>
          <p:cNvSpPr/>
          <p:nvPr/>
        </p:nvSpPr>
        <p:spPr>
          <a:xfrm>
            <a:off x="822960" y="3566160"/>
            <a:ext cx="10515600" cy="640080"/>
          </a:xfrm>
          <a:prstGeom prst="roundRect">
            <a:avLst>
              <a:gd name="adj" fmla="val 11429"/>
            </a:avLst>
          </a:prstGeom>
          <a:solidFill>
            <a:srgbClr val="1D2639"/>
          </a:solidFill>
          <a:ln w="12700">
            <a:solidFill>
              <a:srgbClr val="2A3550"/>
            </a:solidFill>
            <a:prstDash val="solid"/>
          </a:ln>
        </p:spPr>
      </p:sp>
      <p:sp>
        <p:nvSpPr>
          <p:cNvPr id="15" name="Text 13"/>
          <p:cNvSpPr/>
          <p:nvPr/>
        </p:nvSpPr>
        <p:spPr>
          <a:xfrm>
            <a:off x="1005840" y="3566160"/>
            <a:ext cx="2103120" cy="640080"/>
          </a:xfrm>
          <a:prstGeom prst="rect">
            <a:avLst/>
          </a:prstGeom>
          <a:noFill/>
          <a:ln/>
        </p:spPr>
        <p:txBody>
          <a:bodyPr wrap="square" lIns="0" tIns="0" rIns="0" bIns="0" rtlCol="0" anchor="ctr"/>
          <a:lstStyle/>
          <a:p>
            <a:pPr indent="0" marL="0">
              <a:buNone/>
            </a:pPr>
            <a:r>
              <a:rPr lang="en-US" sz="1500" b="1" dirty="0">
                <a:solidFill>
                  <a:srgbClr val="5B8CFF"/>
                </a:solidFill>
                <a:latin typeface="Courier New" pitchFamily="34" charset="0"/>
                <a:ea typeface="Courier New" pitchFamily="34" charset="-122"/>
                <a:cs typeface="Courier New" pitchFamily="34" charset="-120"/>
              </a:rPr>
              <a:t>relevance</a:t>
            </a:r>
            <a:endParaRPr lang="en-US" sz="1500" dirty="0"/>
          </a:p>
        </p:txBody>
      </p:sp>
      <p:sp>
        <p:nvSpPr>
          <p:cNvPr id="16" name="Text 14"/>
          <p:cNvSpPr/>
          <p:nvPr/>
        </p:nvSpPr>
        <p:spPr>
          <a:xfrm>
            <a:off x="3200400" y="3566160"/>
            <a:ext cx="4846320" cy="640080"/>
          </a:xfrm>
          <a:prstGeom prst="rect">
            <a:avLst/>
          </a:prstGeom>
          <a:noFill/>
          <a:ln/>
        </p:spPr>
        <p:txBody>
          <a:bodyPr wrap="square" lIns="0" tIns="0" rIns="0" bIns="0" rtlCol="0" anchor="ctr"/>
          <a:lstStyle/>
          <a:p>
            <a:pPr indent="0" marL="0">
              <a:buNone/>
            </a:pPr>
            <a:r>
              <a:rPr lang="en-US" sz="1350" dirty="0">
                <a:solidFill>
                  <a:srgbClr val="E8ECF4"/>
                </a:solidFill>
                <a:latin typeface="Calibri" pitchFamily="34" charset="0"/>
                <a:ea typeface="Calibri" pitchFamily="34" charset="-122"/>
                <a:cs typeface="Calibri" pitchFamily="34" charset="-120"/>
              </a:rPr>
              <a:t>Did retrieval surface the right document? (MRR, hit@k)</a:t>
            </a:r>
            <a:endParaRPr lang="en-US" sz="1350" dirty="0"/>
          </a:p>
        </p:txBody>
      </p:sp>
      <p:sp>
        <p:nvSpPr>
          <p:cNvPr id="17" name="Text 15"/>
          <p:cNvSpPr/>
          <p:nvPr/>
        </p:nvSpPr>
        <p:spPr>
          <a:xfrm>
            <a:off x="8229600" y="3566160"/>
            <a:ext cx="3017520" cy="640080"/>
          </a:xfrm>
          <a:prstGeom prst="rect">
            <a:avLst/>
          </a:prstGeom>
          <a:noFill/>
          <a:ln/>
        </p:spPr>
        <p:txBody>
          <a:bodyPr wrap="square" lIns="0" tIns="0" rIns="0" bIns="0" rtlCol="0" anchor="ctr"/>
          <a:lstStyle/>
          <a:p>
            <a:pPr indent="0" marL="0">
              <a:buNone/>
            </a:pPr>
            <a:r>
              <a:rPr lang="en-US" sz="1350" dirty="0">
                <a:solidFill>
                  <a:srgbClr val="FF5470"/>
                </a:solidFill>
                <a:latin typeface="Calibri" pitchFamily="34" charset="0"/>
                <a:ea typeface="Calibri" pitchFamily="34" charset="-122"/>
                <a:cs typeface="Calibri" pitchFamily="34" charset="-120"/>
              </a:rPr>
              <a:t>broken chunking / embeddings</a:t>
            </a:r>
            <a:endParaRPr lang="en-US" sz="1350" dirty="0"/>
          </a:p>
        </p:txBody>
      </p:sp>
      <p:sp>
        <p:nvSpPr>
          <p:cNvPr id="18" name="Shape 16"/>
          <p:cNvSpPr/>
          <p:nvPr/>
        </p:nvSpPr>
        <p:spPr>
          <a:xfrm>
            <a:off x="822960" y="4343400"/>
            <a:ext cx="10515600" cy="640080"/>
          </a:xfrm>
          <a:prstGeom prst="roundRect">
            <a:avLst>
              <a:gd name="adj" fmla="val 11429"/>
            </a:avLst>
          </a:prstGeom>
          <a:solidFill>
            <a:srgbClr val="171E2E"/>
          </a:solidFill>
          <a:ln w="12700">
            <a:solidFill>
              <a:srgbClr val="2A3550"/>
            </a:solidFill>
            <a:prstDash val="solid"/>
          </a:ln>
        </p:spPr>
      </p:sp>
      <p:sp>
        <p:nvSpPr>
          <p:cNvPr id="19" name="Text 17"/>
          <p:cNvSpPr/>
          <p:nvPr/>
        </p:nvSpPr>
        <p:spPr>
          <a:xfrm>
            <a:off x="1005840" y="4343400"/>
            <a:ext cx="2103120" cy="640080"/>
          </a:xfrm>
          <a:prstGeom prst="rect">
            <a:avLst/>
          </a:prstGeom>
          <a:noFill/>
          <a:ln/>
        </p:spPr>
        <p:txBody>
          <a:bodyPr wrap="square" lIns="0" tIns="0" rIns="0" bIns="0" rtlCol="0" anchor="ctr"/>
          <a:lstStyle/>
          <a:p>
            <a:pPr indent="0" marL="0">
              <a:buNone/>
            </a:pPr>
            <a:r>
              <a:rPr lang="en-US" sz="1500" b="1" dirty="0">
                <a:solidFill>
                  <a:srgbClr val="5B8CFF"/>
                </a:solidFill>
                <a:latin typeface="Courier New" pitchFamily="34" charset="0"/>
                <a:ea typeface="Courier New" pitchFamily="34" charset="-122"/>
                <a:cs typeface="Courier New" pitchFamily="34" charset="-120"/>
              </a:rPr>
              <a:t>consistency</a:t>
            </a:r>
            <a:endParaRPr lang="en-US" sz="1500" dirty="0"/>
          </a:p>
        </p:txBody>
      </p:sp>
      <p:sp>
        <p:nvSpPr>
          <p:cNvPr id="20" name="Text 18"/>
          <p:cNvSpPr/>
          <p:nvPr/>
        </p:nvSpPr>
        <p:spPr>
          <a:xfrm>
            <a:off x="3200400" y="4343400"/>
            <a:ext cx="4846320" cy="640080"/>
          </a:xfrm>
          <a:prstGeom prst="rect">
            <a:avLst/>
          </a:prstGeom>
          <a:noFill/>
          <a:ln/>
        </p:spPr>
        <p:txBody>
          <a:bodyPr wrap="square" lIns="0" tIns="0" rIns="0" bIns="0" rtlCol="0" anchor="ctr"/>
          <a:lstStyle/>
          <a:p>
            <a:pPr indent="0" marL="0">
              <a:buNone/>
            </a:pPr>
            <a:r>
              <a:rPr lang="en-US" sz="1350" dirty="0">
                <a:solidFill>
                  <a:srgbClr val="E8ECF4"/>
                </a:solidFill>
                <a:latin typeface="Calibri" pitchFamily="34" charset="0"/>
                <a:ea typeface="Calibri" pitchFamily="34" charset="-122"/>
                <a:cs typeface="Calibri" pitchFamily="34" charset="-120"/>
              </a:rPr>
              <a:t>Does the same question get a stable answer? (5 runs)</a:t>
            </a:r>
            <a:endParaRPr lang="en-US" sz="1350" dirty="0"/>
          </a:p>
        </p:txBody>
      </p:sp>
      <p:sp>
        <p:nvSpPr>
          <p:cNvPr id="21" name="Text 19"/>
          <p:cNvSpPr/>
          <p:nvPr/>
        </p:nvSpPr>
        <p:spPr>
          <a:xfrm>
            <a:off x="8229600" y="4343400"/>
            <a:ext cx="3017520" cy="640080"/>
          </a:xfrm>
          <a:prstGeom prst="rect">
            <a:avLst/>
          </a:prstGeom>
          <a:noFill/>
          <a:ln/>
        </p:spPr>
        <p:txBody>
          <a:bodyPr wrap="square" lIns="0" tIns="0" rIns="0" bIns="0" rtlCol="0" anchor="ctr"/>
          <a:lstStyle/>
          <a:p>
            <a:pPr indent="0" marL="0">
              <a:buNone/>
            </a:pPr>
            <a:r>
              <a:rPr lang="en-US" sz="1350" dirty="0">
                <a:solidFill>
                  <a:srgbClr val="FF5470"/>
                </a:solidFill>
                <a:latin typeface="Calibri" pitchFamily="34" charset="0"/>
                <a:ea typeface="Calibri" pitchFamily="34" charset="-122"/>
                <a:cs typeface="Calibri" pitchFamily="34" charset="-120"/>
              </a:rPr>
              <a:t>flapping, prompt fragility</a:t>
            </a:r>
            <a:endParaRPr lang="en-US" sz="1350" dirty="0"/>
          </a:p>
        </p:txBody>
      </p:sp>
      <p:sp>
        <p:nvSpPr>
          <p:cNvPr id="22" name="Shape 20"/>
          <p:cNvSpPr/>
          <p:nvPr/>
        </p:nvSpPr>
        <p:spPr>
          <a:xfrm>
            <a:off x="822960" y="5120640"/>
            <a:ext cx="10515600" cy="640080"/>
          </a:xfrm>
          <a:prstGeom prst="roundRect">
            <a:avLst>
              <a:gd name="adj" fmla="val 11429"/>
            </a:avLst>
          </a:prstGeom>
          <a:solidFill>
            <a:srgbClr val="1D2639"/>
          </a:solidFill>
          <a:ln w="12700">
            <a:solidFill>
              <a:srgbClr val="2A3550"/>
            </a:solidFill>
            <a:prstDash val="solid"/>
          </a:ln>
        </p:spPr>
      </p:sp>
      <p:sp>
        <p:nvSpPr>
          <p:cNvPr id="23" name="Text 21"/>
          <p:cNvSpPr/>
          <p:nvPr/>
        </p:nvSpPr>
        <p:spPr>
          <a:xfrm>
            <a:off x="1005840" y="5120640"/>
            <a:ext cx="2103120" cy="640080"/>
          </a:xfrm>
          <a:prstGeom prst="rect">
            <a:avLst/>
          </a:prstGeom>
          <a:noFill/>
          <a:ln/>
        </p:spPr>
        <p:txBody>
          <a:bodyPr wrap="square" lIns="0" tIns="0" rIns="0" bIns="0" rtlCol="0" anchor="ctr"/>
          <a:lstStyle/>
          <a:p>
            <a:pPr indent="0" marL="0">
              <a:buNone/>
            </a:pPr>
            <a:r>
              <a:rPr lang="en-US" sz="1500" b="1" dirty="0">
                <a:solidFill>
                  <a:srgbClr val="5B8CFF"/>
                </a:solidFill>
                <a:latin typeface="Courier New" pitchFamily="34" charset="0"/>
                <a:ea typeface="Courier New" pitchFamily="34" charset="-122"/>
                <a:cs typeface="Courier New" pitchFamily="34" charset="-120"/>
              </a:rPr>
              <a:t>safety</a:t>
            </a:r>
            <a:endParaRPr lang="en-US" sz="1500" dirty="0"/>
          </a:p>
        </p:txBody>
      </p:sp>
      <p:sp>
        <p:nvSpPr>
          <p:cNvPr id="24" name="Text 22"/>
          <p:cNvSpPr/>
          <p:nvPr/>
        </p:nvSpPr>
        <p:spPr>
          <a:xfrm>
            <a:off x="3200400" y="5120640"/>
            <a:ext cx="4846320" cy="640080"/>
          </a:xfrm>
          <a:prstGeom prst="rect">
            <a:avLst/>
          </a:prstGeom>
          <a:noFill/>
          <a:ln/>
        </p:spPr>
        <p:txBody>
          <a:bodyPr wrap="square" lIns="0" tIns="0" rIns="0" bIns="0" rtlCol="0" anchor="ctr"/>
          <a:lstStyle/>
          <a:p>
            <a:pPr indent="0" marL="0">
              <a:buNone/>
            </a:pPr>
            <a:r>
              <a:rPr lang="en-US" sz="1350" dirty="0">
                <a:solidFill>
                  <a:srgbClr val="E8ECF4"/>
                </a:solidFill>
                <a:latin typeface="Calibri" pitchFamily="34" charset="0"/>
                <a:ea typeface="Calibri" pitchFamily="34" charset="-122"/>
                <a:cs typeface="Calibri" pitchFamily="34" charset="-120"/>
              </a:rPr>
              <a:t>Does it refuse what it must — and only that?</a:t>
            </a:r>
            <a:endParaRPr lang="en-US" sz="1350" dirty="0"/>
          </a:p>
        </p:txBody>
      </p:sp>
      <p:sp>
        <p:nvSpPr>
          <p:cNvPr id="25" name="Text 23"/>
          <p:cNvSpPr/>
          <p:nvPr/>
        </p:nvSpPr>
        <p:spPr>
          <a:xfrm>
            <a:off x="8229600" y="5120640"/>
            <a:ext cx="3017520" cy="640080"/>
          </a:xfrm>
          <a:prstGeom prst="rect">
            <a:avLst/>
          </a:prstGeom>
          <a:noFill/>
          <a:ln/>
        </p:spPr>
        <p:txBody>
          <a:bodyPr wrap="square" lIns="0" tIns="0" rIns="0" bIns="0" rtlCol="0" anchor="ctr"/>
          <a:lstStyle/>
          <a:p>
            <a:pPr indent="0" marL="0">
              <a:buNone/>
            </a:pPr>
            <a:r>
              <a:rPr lang="en-US" sz="1350" dirty="0">
                <a:solidFill>
                  <a:srgbClr val="FF5470"/>
                </a:solidFill>
                <a:latin typeface="Calibri" pitchFamily="34" charset="0"/>
                <a:ea typeface="Calibri" pitchFamily="34" charset="-122"/>
                <a:cs typeface="Calibri" pitchFamily="34" charset="-120"/>
              </a:rPr>
              <a:t>injection, scope creep, over-refusal</a:t>
            </a:r>
            <a:endParaRPr lang="en-US" sz="1350" dirty="0"/>
          </a:p>
        </p:txBody>
      </p:sp>
      <p:sp>
        <p:nvSpPr>
          <p:cNvPr id="26" name="Text 24"/>
          <p:cNvSpPr/>
          <p:nvPr/>
        </p:nvSpPr>
        <p:spPr>
          <a:xfrm>
            <a:off x="822960" y="6035040"/>
            <a:ext cx="10515600" cy="457200"/>
          </a:xfrm>
          <a:prstGeom prst="rect">
            <a:avLst/>
          </a:prstGeom>
          <a:noFill/>
          <a:ln/>
        </p:spPr>
        <p:txBody>
          <a:bodyPr wrap="square" lIns="0" tIns="0" rIns="0" bIns="0" rtlCol="0" anchor="ctr"/>
          <a:lstStyle/>
          <a:p>
            <a:pPr indent="0" marL="0">
              <a:buNone/>
            </a:pPr>
            <a:r>
              <a:rPr lang="en-US" sz="1400" i="1" dirty="0">
                <a:solidFill>
                  <a:srgbClr val="8B95AB"/>
                </a:solidFill>
                <a:latin typeface="Calibri" pitchFamily="34" charset="0"/>
                <a:ea typeface="Calibri" pitchFamily="34" charset="-122"/>
                <a:cs typeface="Calibri" pitchFamily="34" charset="-120"/>
              </a:rPr>
              <a:t>Safety is scored in both directions: a bot that refuses everything is “safe” and useless — over-refusal fails too.</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F1420"/>
        </a:solidFill>
      </p:bgPr>
    </p:bg>
    <p:spTree>
      <p:nvGrpSpPr>
        <p:cNvPr id="1" name=""/>
        <p:cNvGrpSpPr/>
        <p:nvPr/>
      </p:nvGrpSpPr>
      <p:grpSpPr>
        <a:xfrm>
          <a:off x="0" y="0"/>
          <a:ext cx="0" cy="0"/>
          <a:chOff x="0" y="0"/>
          <a:chExt cx="0" cy="0"/>
        </a:xfrm>
      </p:grpSpPr>
      <p:sp>
        <p:nvSpPr>
          <p:cNvPr id="2" name="Text 0"/>
          <p:cNvSpPr/>
          <p:nvPr/>
        </p:nvSpPr>
        <p:spPr>
          <a:xfrm>
            <a:off x="822960" y="502920"/>
            <a:ext cx="10515600" cy="731520"/>
          </a:xfrm>
          <a:prstGeom prst="rect">
            <a:avLst/>
          </a:prstGeom>
          <a:noFill/>
          <a:ln/>
        </p:spPr>
        <p:txBody>
          <a:bodyPr wrap="square" lIns="0" tIns="0" rIns="0" bIns="0" rtlCol="0" anchor="ctr"/>
          <a:lstStyle/>
          <a:p>
            <a:pPr indent="0" marL="0">
              <a:buNone/>
            </a:pPr>
            <a:r>
              <a:rPr lang="en-US" sz="3200" b="1" dirty="0">
                <a:solidFill>
                  <a:srgbClr val="E8ECF4"/>
                </a:solidFill>
                <a:latin typeface="Calibri" pitchFamily="34" charset="0"/>
                <a:ea typeface="Calibri" pitchFamily="34" charset="-122"/>
                <a:cs typeface="Calibri" pitchFamily="34" charset="-120"/>
              </a:rPr>
              <a:t>A test suite you've never seen fail proves nothing</a:t>
            </a:r>
            <a:endParaRPr lang="en-US" sz="3200" dirty="0"/>
          </a:p>
        </p:txBody>
      </p:sp>
      <p:sp>
        <p:nvSpPr>
          <p:cNvPr id="3" name="Text 1"/>
          <p:cNvSpPr/>
          <p:nvPr/>
        </p:nvSpPr>
        <p:spPr>
          <a:xfrm>
            <a:off x="822960" y="1325880"/>
            <a:ext cx="10515600" cy="640080"/>
          </a:xfrm>
          <a:prstGeom prst="rect">
            <a:avLst/>
          </a:prstGeom>
          <a:noFill/>
          <a:ln/>
        </p:spPr>
        <p:txBody>
          <a:bodyPr wrap="square" lIns="0" tIns="0" rIns="0" bIns="0" rtlCol="0" anchor="ctr"/>
          <a:lstStyle/>
          <a:p>
            <a:pPr indent="0" marL="0">
              <a:buNone/>
            </a:pPr>
            <a:r>
              <a:rPr lang="en-US" sz="1600" dirty="0">
                <a:solidFill>
                  <a:srgbClr val="8B95AB"/>
                </a:solidFill>
                <a:latin typeface="Calibri" pitchFamily="34" charset="0"/>
                <a:ea typeface="Calibri" pitchFamily="34" charset="-122"/>
                <a:cs typeface="Calibri" pitchFamily="34" charset="-120"/>
              </a:rPr>
              <a:t>Three failure modes ship in the code, each simulating a real production failure class. One env var breaks the bot; the right dimension catches it.</a:t>
            </a:r>
            <a:endParaRPr lang="en-US" sz="1600" dirty="0"/>
          </a:p>
        </p:txBody>
      </p:sp>
      <p:sp>
        <p:nvSpPr>
          <p:cNvPr id="4" name="Shape 2"/>
          <p:cNvSpPr/>
          <p:nvPr/>
        </p:nvSpPr>
        <p:spPr>
          <a:xfrm>
            <a:off x="822960" y="2286000"/>
            <a:ext cx="10515600" cy="1005840"/>
          </a:xfrm>
          <a:prstGeom prst="roundRect">
            <a:avLst>
              <a:gd name="adj" fmla="val 7273"/>
            </a:avLst>
          </a:prstGeom>
          <a:solidFill>
            <a:srgbClr val="1D2639"/>
          </a:solidFill>
          <a:ln w="12700">
            <a:solidFill>
              <a:srgbClr val="2A3550"/>
            </a:solidFill>
            <a:prstDash val="solid"/>
          </a:ln>
        </p:spPr>
      </p:sp>
      <p:sp>
        <p:nvSpPr>
          <p:cNvPr id="5" name="Text 3"/>
          <p:cNvSpPr/>
          <p:nvPr/>
        </p:nvSpPr>
        <p:spPr>
          <a:xfrm>
            <a:off x="1051560" y="2395728"/>
            <a:ext cx="6035040" cy="411480"/>
          </a:xfrm>
          <a:prstGeom prst="rect">
            <a:avLst/>
          </a:prstGeom>
          <a:noFill/>
          <a:ln/>
        </p:spPr>
        <p:txBody>
          <a:bodyPr wrap="square" lIns="0" tIns="0" rIns="0" bIns="0" rtlCol="0" anchor="ctr"/>
          <a:lstStyle/>
          <a:p>
            <a:pPr indent="0" marL="0">
              <a:buNone/>
            </a:pPr>
            <a:r>
              <a:rPr lang="en-US" sz="1400" dirty="0">
                <a:solidFill>
                  <a:srgbClr val="FFB454"/>
                </a:solidFill>
                <a:latin typeface="Courier New" pitchFamily="34" charset="0"/>
                <a:ea typeface="Courier New" pitchFamily="34" charset="-122"/>
                <a:cs typeface="Courier New" pitchFamily="34" charset="-120"/>
              </a:rPr>
              <a:t>$ RAG_EVAL_FAILURE=hallucinate pytest</a:t>
            </a:r>
            <a:endParaRPr lang="en-US" sz="1400" dirty="0"/>
          </a:p>
        </p:txBody>
      </p:sp>
      <p:sp>
        <p:nvSpPr>
          <p:cNvPr id="6" name="Text 4"/>
          <p:cNvSpPr/>
          <p:nvPr/>
        </p:nvSpPr>
        <p:spPr>
          <a:xfrm>
            <a:off x="1051560" y="2788920"/>
            <a:ext cx="6035040" cy="411480"/>
          </a:xfrm>
          <a:prstGeom prst="rect">
            <a:avLst/>
          </a:prstGeom>
          <a:noFill/>
          <a:ln/>
        </p:spPr>
        <p:txBody>
          <a:bodyPr wrap="square" lIns="0" tIns="0" rIns="0" bIns="0" rtlCol="0" anchor="ctr"/>
          <a:lstStyle/>
          <a:p>
            <a:pPr indent="0" marL="0">
              <a:buNone/>
            </a:pPr>
            <a:r>
              <a:rPr lang="en-US" sz="1300" dirty="0">
                <a:solidFill>
                  <a:srgbClr val="8B95AB"/>
                </a:solidFill>
                <a:latin typeface="Calibri" pitchFamily="34" charset="0"/>
                <a:ea typeface="Calibri" pitchFamily="34" charset="-122"/>
                <a:cs typeface="Calibri" pitchFamily="34" charset="-120"/>
              </a:rPr>
              <a:t>model starts fabricating claims</a:t>
            </a:r>
            <a:endParaRPr lang="en-US" sz="1300" dirty="0"/>
          </a:p>
        </p:txBody>
      </p:sp>
      <p:sp>
        <p:nvSpPr>
          <p:cNvPr id="7" name="Text 5"/>
          <p:cNvSpPr/>
          <p:nvPr/>
        </p:nvSpPr>
        <p:spPr>
          <a:xfrm>
            <a:off x="7406640" y="2286000"/>
            <a:ext cx="3657600" cy="1005840"/>
          </a:xfrm>
          <a:prstGeom prst="rect">
            <a:avLst/>
          </a:prstGeom>
          <a:noFill/>
          <a:ln/>
        </p:spPr>
        <p:txBody>
          <a:bodyPr wrap="square" lIns="0" tIns="0" rIns="0" bIns="0" rtlCol="0" anchor="ctr"/>
          <a:lstStyle/>
          <a:p>
            <a:pPr indent="0" marL="0">
              <a:buNone/>
            </a:pPr>
            <a:r>
              <a:rPr lang="en-US" sz="1600" b="1" dirty="0">
                <a:solidFill>
                  <a:srgbClr val="FF5470"/>
                </a:solidFill>
                <a:latin typeface="Courier New" pitchFamily="34" charset="0"/>
                <a:ea typeface="Courier New" pitchFamily="34" charset="-122"/>
                <a:cs typeface="Courier New" pitchFamily="34" charset="-120"/>
              </a:rPr>
              <a:t>grounding FAILS</a:t>
            </a:r>
            <a:endParaRPr lang="en-US" sz="1600" dirty="0"/>
          </a:p>
        </p:txBody>
      </p:sp>
      <p:sp>
        <p:nvSpPr>
          <p:cNvPr id="8" name="Shape 6"/>
          <p:cNvSpPr/>
          <p:nvPr/>
        </p:nvSpPr>
        <p:spPr>
          <a:xfrm>
            <a:off x="822960" y="3520440"/>
            <a:ext cx="10515600" cy="1005840"/>
          </a:xfrm>
          <a:prstGeom prst="roundRect">
            <a:avLst>
              <a:gd name="adj" fmla="val 7273"/>
            </a:avLst>
          </a:prstGeom>
          <a:solidFill>
            <a:srgbClr val="1D2639"/>
          </a:solidFill>
          <a:ln w="12700">
            <a:solidFill>
              <a:srgbClr val="2A3550"/>
            </a:solidFill>
            <a:prstDash val="solid"/>
          </a:ln>
        </p:spPr>
      </p:sp>
      <p:sp>
        <p:nvSpPr>
          <p:cNvPr id="9" name="Text 7"/>
          <p:cNvSpPr/>
          <p:nvPr/>
        </p:nvSpPr>
        <p:spPr>
          <a:xfrm>
            <a:off x="1051560" y="3630168"/>
            <a:ext cx="6035040" cy="411480"/>
          </a:xfrm>
          <a:prstGeom prst="rect">
            <a:avLst/>
          </a:prstGeom>
          <a:noFill/>
          <a:ln/>
        </p:spPr>
        <p:txBody>
          <a:bodyPr wrap="square" lIns="0" tIns="0" rIns="0" bIns="0" rtlCol="0" anchor="ctr"/>
          <a:lstStyle/>
          <a:p>
            <a:pPr indent="0" marL="0">
              <a:buNone/>
            </a:pPr>
            <a:r>
              <a:rPr lang="en-US" sz="1400" dirty="0">
                <a:solidFill>
                  <a:srgbClr val="FFB454"/>
                </a:solidFill>
                <a:latin typeface="Courier New" pitchFamily="34" charset="0"/>
                <a:ea typeface="Courier New" pitchFamily="34" charset="-122"/>
                <a:cs typeface="Courier New" pitchFamily="34" charset="-120"/>
              </a:rPr>
              <a:t>$ RAG_EVAL_FAILURE=bad_retrieval pytest</a:t>
            </a:r>
            <a:endParaRPr lang="en-US" sz="1400" dirty="0"/>
          </a:p>
        </p:txBody>
      </p:sp>
      <p:sp>
        <p:nvSpPr>
          <p:cNvPr id="10" name="Text 8"/>
          <p:cNvSpPr/>
          <p:nvPr/>
        </p:nvSpPr>
        <p:spPr>
          <a:xfrm>
            <a:off x="1051560" y="4023360"/>
            <a:ext cx="6035040" cy="411480"/>
          </a:xfrm>
          <a:prstGeom prst="rect">
            <a:avLst/>
          </a:prstGeom>
          <a:noFill/>
          <a:ln/>
        </p:spPr>
        <p:txBody>
          <a:bodyPr wrap="square" lIns="0" tIns="0" rIns="0" bIns="0" rtlCol="0" anchor="ctr"/>
          <a:lstStyle/>
          <a:p>
            <a:pPr indent="0" marL="0">
              <a:buNone/>
            </a:pPr>
            <a:r>
              <a:rPr lang="en-US" sz="1300" dirty="0">
                <a:solidFill>
                  <a:srgbClr val="8B95AB"/>
                </a:solidFill>
                <a:latin typeface="Calibri" pitchFamily="34" charset="0"/>
                <a:ea typeface="Calibri" pitchFamily="34" charset="-122"/>
                <a:cs typeface="Calibri" pitchFamily="34" charset="-120"/>
              </a:rPr>
              <a:t>chunking change silently breaks retrieval</a:t>
            </a:r>
            <a:endParaRPr lang="en-US" sz="1300" dirty="0"/>
          </a:p>
        </p:txBody>
      </p:sp>
      <p:sp>
        <p:nvSpPr>
          <p:cNvPr id="11" name="Text 9"/>
          <p:cNvSpPr/>
          <p:nvPr/>
        </p:nvSpPr>
        <p:spPr>
          <a:xfrm>
            <a:off x="7406640" y="3520440"/>
            <a:ext cx="3657600" cy="1005840"/>
          </a:xfrm>
          <a:prstGeom prst="rect">
            <a:avLst/>
          </a:prstGeom>
          <a:noFill/>
          <a:ln/>
        </p:spPr>
        <p:txBody>
          <a:bodyPr wrap="square" lIns="0" tIns="0" rIns="0" bIns="0" rtlCol="0" anchor="ctr"/>
          <a:lstStyle/>
          <a:p>
            <a:pPr indent="0" marL="0">
              <a:buNone/>
            </a:pPr>
            <a:r>
              <a:rPr lang="en-US" sz="1600" b="1" dirty="0">
                <a:solidFill>
                  <a:srgbClr val="FF5470"/>
                </a:solidFill>
                <a:latin typeface="Courier New" pitchFamily="34" charset="0"/>
                <a:ea typeface="Courier New" pitchFamily="34" charset="-122"/>
                <a:cs typeface="Courier New" pitchFamily="34" charset="-120"/>
              </a:rPr>
              <a:t>relevance / over-refusal FAILS</a:t>
            </a:r>
            <a:endParaRPr lang="en-US" sz="1600" dirty="0"/>
          </a:p>
        </p:txBody>
      </p:sp>
      <p:sp>
        <p:nvSpPr>
          <p:cNvPr id="12" name="Shape 10"/>
          <p:cNvSpPr/>
          <p:nvPr/>
        </p:nvSpPr>
        <p:spPr>
          <a:xfrm>
            <a:off x="822960" y="4754880"/>
            <a:ext cx="10515600" cy="1005840"/>
          </a:xfrm>
          <a:prstGeom prst="roundRect">
            <a:avLst>
              <a:gd name="adj" fmla="val 7273"/>
            </a:avLst>
          </a:prstGeom>
          <a:solidFill>
            <a:srgbClr val="1D2639"/>
          </a:solidFill>
          <a:ln w="12700">
            <a:solidFill>
              <a:srgbClr val="2A3550"/>
            </a:solidFill>
            <a:prstDash val="solid"/>
          </a:ln>
        </p:spPr>
      </p:sp>
      <p:sp>
        <p:nvSpPr>
          <p:cNvPr id="13" name="Text 11"/>
          <p:cNvSpPr/>
          <p:nvPr/>
        </p:nvSpPr>
        <p:spPr>
          <a:xfrm>
            <a:off x="1051560" y="4864608"/>
            <a:ext cx="6035040" cy="411480"/>
          </a:xfrm>
          <a:prstGeom prst="rect">
            <a:avLst/>
          </a:prstGeom>
          <a:noFill/>
          <a:ln/>
        </p:spPr>
        <p:txBody>
          <a:bodyPr wrap="square" lIns="0" tIns="0" rIns="0" bIns="0" rtlCol="0" anchor="ctr"/>
          <a:lstStyle/>
          <a:p>
            <a:pPr indent="0" marL="0">
              <a:buNone/>
            </a:pPr>
            <a:r>
              <a:rPr lang="en-US" sz="1400" dirty="0">
                <a:solidFill>
                  <a:srgbClr val="FFB454"/>
                </a:solidFill>
                <a:latin typeface="Courier New" pitchFamily="34" charset="0"/>
                <a:ea typeface="Courier New" pitchFamily="34" charset="-122"/>
                <a:cs typeface="Courier New" pitchFamily="34" charset="-120"/>
              </a:rPr>
              <a:t>$ RAG_EVAL_FAILURE=no_refusal pytest</a:t>
            </a:r>
            <a:endParaRPr lang="en-US" sz="1400" dirty="0"/>
          </a:p>
        </p:txBody>
      </p:sp>
      <p:sp>
        <p:nvSpPr>
          <p:cNvPr id="14" name="Text 12"/>
          <p:cNvSpPr/>
          <p:nvPr/>
        </p:nvSpPr>
        <p:spPr>
          <a:xfrm>
            <a:off x="1051560" y="5257800"/>
            <a:ext cx="6035040" cy="411480"/>
          </a:xfrm>
          <a:prstGeom prst="rect">
            <a:avLst/>
          </a:prstGeom>
          <a:noFill/>
          <a:ln/>
        </p:spPr>
        <p:txBody>
          <a:bodyPr wrap="square" lIns="0" tIns="0" rIns="0" bIns="0" rtlCol="0" anchor="ctr"/>
          <a:lstStyle/>
          <a:p>
            <a:pPr indent="0" marL="0">
              <a:buNone/>
            </a:pPr>
            <a:r>
              <a:rPr lang="en-US" sz="1300" dirty="0">
                <a:solidFill>
                  <a:srgbClr val="8B95AB"/>
                </a:solidFill>
                <a:latin typeface="Calibri" pitchFamily="34" charset="0"/>
                <a:ea typeface="Calibri" pitchFamily="34" charset="-122"/>
                <a:cs typeface="Calibri" pitchFamily="34" charset="-120"/>
              </a:rPr>
              <a:t>a guardrail gets disabled</a:t>
            </a:r>
            <a:endParaRPr lang="en-US" sz="1300" dirty="0"/>
          </a:p>
        </p:txBody>
      </p:sp>
      <p:sp>
        <p:nvSpPr>
          <p:cNvPr id="15" name="Text 13"/>
          <p:cNvSpPr/>
          <p:nvPr/>
        </p:nvSpPr>
        <p:spPr>
          <a:xfrm>
            <a:off x="7406640" y="4754880"/>
            <a:ext cx="3657600" cy="1005840"/>
          </a:xfrm>
          <a:prstGeom prst="rect">
            <a:avLst/>
          </a:prstGeom>
          <a:noFill/>
          <a:ln/>
        </p:spPr>
        <p:txBody>
          <a:bodyPr wrap="square" lIns="0" tIns="0" rIns="0" bIns="0" rtlCol="0" anchor="ctr"/>
          <a:lstStyle/>
          <a:p>
            <a:pPr indent="0" marL="0">
              <a:buNone/>
            </a:pPr>
            <a:r>
              <a:rPr lang="en-US" sz="1600" b="1" dirty="0">
                <a:solidFill>
                  <a:srgbClr val="FF5470"/>
                </a:solidFill>
                <a:latin typeface="Courier New" pitchFamily="34" charset="0"/>
                <a:ea typeface="Courier New" pitchFamily="34" charset="-122"/>
                <a:cs typeface="Courier New" pitchFamily="34" charset="-120"/>
              </a:rPr>
              <a:t>safety FAILS</a:t>
            </a:r>
            <a:endParaRPr lang="en-US" sz="1600" dirty="0"/>
          </a:p>
        </p:txBody>
      </p:sp>
      <p:sp>
        <p:nvSpPr>
          <p:cNvPr id="16" name="Text 14"/>
          <p:cNvSpPr/>
          <p:nvPr/>
        </p:nvSpPr>
        <p:spPr>
          <a:xfrm>
            <a:off x="822960" y="6126480"/>
            <a:ext cx="10515600" cy="457200"/>
          </a:xfrm>
          <a:prstGeom prst="rect">
            <a:avLst/>
          </a:prstGeom>
          <a:noFill/>
          <a:ln/>
        </p:spPr>
        <p:txBody>
          <a:bodyPr wrap="square" lIns="0" tIns="0" rIns="0" bIns="0" rtlCol="0" anchor="ctr"/>
          <a:lstStyle/>
          <a:p>
            <a:pPr indent="0" marL="0">
              <a:buNone/>
            </a:pPr>
            <a:r>
              <a:rPr lang="en-US" sz="1500" i="1" dirty="0">
                <a:solidFill>
                  <a:srgbClr val="3ECF8E"/>
                </a:solidFill>
                <a:latin typeface="Calibri" pitchFamily="34" charset="0"/>
                <a:ea typeface="Calibri" pitchFamily="34" charset="-122"/>
                <a:cs typeface="Calibri" pitchFamily="34" charset="-120"/>
              </a:rPr>
              <a:t>Green suite → flip one switch → red in exactly the right place. That mapping is the demo.</a:t>
            </a:r>
            <a:endParaRPr lang="en-US" sz="15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F1420"/>
        </a:solidFill>
      </p:bgPr>
    </p:bg>
    <p:spTree>
      <p:nvGrpSpPr>
        <p:cNvPr id="1" name=""/>
        <p:cNvGrpSpPr/>
        <p:nvPr/>
      </p:nvGrpSpPr>
      <p:grpSpPr>
        <a:xfrm>
          <a:off x="0" y="0"/>
          <a:ext cx="0" cy="0"/>
          <a:chOff x="0" y="0"/>
          <a:chExt cx="0" cy="0"/>
        </a:xfrm>
      </p:grpSpPr>
      <p:sp>
        <p:nvSpPr>
          <p:cNvPr id="2" name="Text 0"/>
          <p:cNvSpPr/>
          <p:nvPr/>
        </p:nvSpPr>
        <p:spPr>
          <a:xfrm>
            <a:off x="822960" y="502920"/>
            <a:ext cx="10515600" cy="731520"/>
          </a:xfrm>
          <a:prstGeom prst="rect">
            <a:avLst/>
          </a:prstGeom>
          <a:noFill/>
          <a:ln/>
        </p:spPr>
        <p:txBody>
          <a:bodyPr wrap="square" lIns="0" tIns="0" rIns="0" bIns="0" rtlCol="0" anchor="ctr"/>
          <a:lstStyle/>
          <a:p>
            <a:pPr indent="0" marL="0">
              <a:buNone/>
            </a:pPr>
            <a:r>
              <a:rPr lang="en-US" sz="3400" b="1" dirty="0">
                <a:solidFill>
                  <a:srgbClr val="E8ECF4"/>
                </a:solidFill>
                <a:latin typeface="Calibri" pitchFamily="34" charset="0"/>
                <a:ea typeface="Calibri" pitchFamily="34" charset="-122"/>
                <a:cs typeface="Calibri" pitchFamily="34" charset="-120"/>
              </a:rPr>
              <a:t>The catch, from a real run</a:t>
            </a:r>
            <a:endParaRPr lang="en-US" sz="3400" dirty="0"/>
          </a:p>
        </p:txBody>
      </p:sp>
      <p:sp>
        <p:nvSpPr>
          <p:cNvPr id="3" name="Shape 1"/>
          <p:cNvSpPr/>
          <p:nvPr/>
        </p:nvSpPr>
        <p:spPr>
          <a:xfrm>
            <a:off x="822960" y="1554480"/>
            <a:ext cx="5029200" cy="2286000"/>
          </a:xfrm>
          <a:prstGeom prst="roundRect">
            <a:avLst>
              <a:gd name="adj" fmla="val 3200"/>
            </a:avLst>
          </a:prstGeom>
          <a:solidFill>
            <a:srgbClr val="171E2E"/>
          </a:solidFill>
          <a:ln w="12700">
            <a:solidFill>
              <a:srgbClr val="2A3550"/>
            </a:solidFill>
            <a:prstDash val="solid"/>
          </a:ln>
        </p:spPr>
      </p:sp>
      <p:sp>
        <p:nvSpPr>
          <p:cNvPr id="4" name="Text 2"/>
          <p:cNvSpPr/>
          <p:nvPr/>
        </p:nvSpPr>
        <p:spPr>
          <a:xfrm>
            <a:off x="1097280" y="1783080"/>
            <a:ext cx="4572000" cy="365760"/>
          </a:xfrm>
          <a:prstGeom prst="rect">
            <a:avLst/>
          </a:prstGeom>
          <a:noFill/>
          <a:ln/>
        </p:spPr>
        <p:txBody>
          <a:bodyPr wrap="square" lIns="0" tIns="0" rIns="0" bIns="0" rtlCol="0" anchor="ctr"/>
          <a:lstStyle/>
          <a:p>
            <a:pPr indent="0" marL="0">
              <a:buNone/>
            </a:pPr>
            <a:r>
              <a:rPr lang="en-US" sz="1500" dirty="0">
                <a:solidFill>
                  <a:srgbClr val="8B95AB"/>
                </a:solidFill>
                <a:latin typeface="Courier New" pitchFamily="34" charset="0"/>
                <a:ea typeface="Courier New" pitchFamily="34" charset="-122"/>
                <a:cs typeface="Courier New" pitchFamily="34" charset="-120"/>
              </a:rPr>
              <a:t>grounding</a:t>
            </a:r>
            <a:endParaRPr lang="en-US" sz="1500" dirty="0"/>
          </a:p>
        </p:txBody>
      </p:sp>
      <p:sp>
        <p:nvSpPr>
          <p:cNvPr id="5" name="Text 3"/>
          <p:cNvSpPr/>
          <p:nvPr/>
        </p:nvSpPr>
        <p:spPr>
          <a:xfrm>
            <a:off x="1097280" y="2148840"/>
            <a:ext cx="4572000" cy="1005840"/>
          </a:xfrm>
          <a:prstGeom prst="rect">
            <a:avLst/>
          </a:prstGeom>
          <a:noFill/>
          <a:ln/>
        </p:spPr>
        <p:txBody>
          <a:bodyPr wrap="square" lIns="0" tIns="0" rIns="0" bIns="0" rtlCol="0" anchor="ctr"/>
          <a:lstStyle/>
          <a:p>
            <a:pPr indent="0" marL="0">
              <a:buNone/>
            </a:pPr>
            <a:r>
              <a:rPr lang="en-US" sz="5200" b="1" dirty="0">
                <a:solidFill>
                  <a:srgbClr val="3ECF8E"/>
                </a:solidFill>
                <a:latin typeface="Courier New" pitchFamily="34" charset="0"/>
                <a:ea typeface="Courier New" pitchFamily="34" charset="-122"/>
                <a:cs typeface="Courier New" pitchFamily="34" charset="-120"/>
              </a:rPr>
              <a:t>1.00</a:t>
            </a:r>
            <a:pPr indent="0" marL="0">
              <a:buNone/>
            </a:pPr>
            <a:r>
              <a:rPr lang="en-US" sz="5200" dirty="0">
                <a:solidFill>
                  <a:srgbClr val="8B95AB"/>
                </a:solidFill>
                <a:latin typeface="Courier New" pitchFamily="34" charset="0"/>
                <a:ea typeface="Courier New" pitchFamily="34" charset="-122"/>
                <a:cs typeface="Courier New" pitchFamily="34" charset="-120"/>
              </a:rPr>
              <a:t>  →  </a:t>
            </a:r>
            <a:pPr indent="0" marL="0">
              <a:buNone/>
            </a:pPr>
            <a:r>
              <a:rPr lang="en-US" sz="5200" b="1" dirty="0">
                <a:solidFill>
                  <a:srgbClr val="FF5470"/>
                </a:solidFill>
                <a:latin typeface="Courier New" pitchFamily="34" charset="0"/>
                <a:ea typeface="Courier New" pitchFamily="34" charset="-122"/>
                <a:cs typeface="Courier New" pitchFamily="34" charset="-120"/>
              </a:rPr>
              <a:t>0.72</a:t>
            </a:r>
            <a:endParaRPr lang="en-US" sz="5200" dirty="0"/>
          </a:p>
        </p:txBody>
      </p:sp>
      <p:sp>
        <p:nvSpPr>
          <p:cNvPr id="6" name="Text 4"/>
          <p:cNvSpPr/>
          <p:nvPr/>
        </p:nvSpPr>
        <p:spPr>
          <a:xfrm>
            <a:off x="1097280" y="3200400"/>
            <a:ext cx="4572000" cy="457200"/>
          </a:xfrm>
          <a:prstGeom prst="rect">
            <a:avLst/>
          </a:prstGeom>
          <a:noFill/>
          <a:ln/>
        </p:spPr>
        <p:txBody>
          <a:bodyPr wrap="square" lIns="0" tIns="0" rIns="0" bIns="0" rtlCol="0" anchor="ctr"/>
          <a:lstStyle/>
          <a:p>
            <a:pPr indent="0" marL="0">
              <a:buNone/>
            </a:pPr>
            <a:r>
              <a:rPr lang="en-US" sz="1300" dirty="0">
                <a:solidFill>
                  <a:srgbClr val="8B95AB"/>
                </a:solidFill>
                <a:latin typeface="Calibri" pitchFamily="34" charset="0"/>
                <a:ea typeface="Calibri" pitchFamily="34" charset="-122"/>
                <a:cs typeface="Calibri" pitchFamily="34" charset="-120"/>
              </a:rPr>
              <a:t>15 of 15 answerable cases flagged · 4 other dimensions stayed green</a:t>
            </a:r>
            <a:endParaRPr lang="en-US" sz="1300" dirty="0"/>
          </a:p>
        </p:txBody>
      </p:sp>
      <p:sp>
        <p:nvSpPr>
          <p:cNvPr id="7" name="Shape 5"/>
          <p:cNvSpPr/>
          <p:nvPr/>
        </p:nvSpPr>
        <p:spPr>
          <a:xfrm>
            <a:off x="6217920" y="1554480"/>
            <a:ext cx="5120640" cy="2286000"/>
          </a:xfrm>
          <a:prstGeom prst="roundRect">
            <a:avLst>
              <a:gd name="adj" fmla="val 3200"/>
            </a:avLst>
          </a:prstGeom>
          <a:solidFill>
            <a:srgbClr val="1D2639"/>
          </a:solidFill>
          <a:ln w="12700">
            <a:solidFill>
              <a:srgbClr val="FF5470"/>
            </a:solidFill>
            <a:prstDash val="solid"/>
          </a:ln>
        </p:spPr>
      </p:sp>
      <p:sp>
        <p:nvSpPr>
          <p:cNvPr id="8" name="Text 6"/>
          <p:cNvSpPr/>
          <p:nvPr/>
        </p:nvSpPr>
        <p:spPr>
          <a:xfrm>
            <a:off x="6492240" y="1783080"/>
            <a:ext cx="4572000" cy="365760"/>
          </a:xfrm>
          <a:prstGeom prst="rect">
            <a:avLst/>
          </a:prstGeom>
          <a:noFill/>
          <a:ln/>
        </p:spPr>
        <p:txBody>
          <a:bodyPr wrap="square" lIns="0" tIns="0" rIns="0" bIns="0" rtlCol="0" anchor="ctr"/>
          <a:lstStyle/>
          <a:p>
            <a:pPr indent="0" marL="0">
              <a:buNone/>
            </a:pPr>
            <a:r>
              <a:rPr lang="en-US" sz="1300" b="1" dirty="0">
                <a:solidFill>
                  <a:srgbClr val="FF5470"/>
                </a:solidFill>
                <a:latin typeface="Calibri" pitchFamily="34" charset="0"/>
                <a:ea typeface="Calibri" pitchFamily="34" charset="-122"/>
                <a:cs typeface="Calibri" pitchFamily="34" charset="-120"/>
              </a:rPr>
              <a:t>flagged sentence · appears in no document</a:t>
            </a:r>
            <a:endParaRPr lang="en-US" sz="1300" dirty="0"/>
          </a:p>
        </p:txBody>
      </p:sp>
      <p:sp>
        <p:nvSpPr>
          <p:cNvPr id="9" name="Text 7"/>
          <p:cNvSpPr/>
          <p:nvPr/>
        </p:nvSpPr>
        <p:spPr>
          <a:xfrm>
            <a:off x="6492240" y="2194560"/>
            <a:ext cx="4572000" cy="914400"/>
          </a:xfrm>
          <a:prstGeom prst="rect">
            <a:avLst/>
          </a:prstGeom>
          <a:noFill/>
          <a:ln/>
        </p:spPr>
        <p:txBody>
          <a:bodyPr wrap="square" lIns="0" tIns="0" rIns="0" bIns="0" rtlCol="0" anchor="ctr"/>
          <a:lstStyle/>
          <a:p>
            <a:pPr indent="0" marL="0">
              <a:buNone/>
            </a:pPr>
            <a:r>
              <a:rPr lang="en-US" sz="1600" i="1" dirty="0">
                <a:solidFill>
                  <a:srgbClr val="E8ECF4"/>
                </a:solidFill>
                <a:latin typeface="Calibri" pitchFamily="34" charset="0"/>
                <a:ea typeface="Calibri" pitchFamily="34" charset="-122"/>
                <a:cs typeface="Calibri" pitchFamily="34" charset="-120"/>
              </a:rPr>
              <a:t>“Additionally, premium members receive priority handling within 2 hours.”</a:t>
            </a:r>
            <a:endParaRPr lang="en-US" sz="1600" dirty="0"/>
          </a:p>
        </p:txBody>
      </p:sp>
      <p:sp>
        <p:nvSpPr>
          <p:cNvPr id="10" name="Text 8"/>
          <p:cNvSpPr/>
          <p:nvPr/>
        </p:nvSpPr>
        <p:spPr>
          <a:xfrm>
            <a:off x="6492240" y="3246120"/>
            <a:ext cx="4572000" cy="365760"/>
          </a:xfrm>
          <a:prstGeom prst="rect">
            <a:avLst/>
          </a:prstGeom>
          <a:noFill/>
          <a:ln/>
        </p:spPr>
        <p:txBody>
          <a:bodyPr wrap="square" lIns="0" tIns="0" rIns="0" bIns="0" rtlCol="0" anchor="ctr"/>
          <a:lstStyle/>
          <a:p>
            <a:pPr indent="0" marL="0">
              <a:buNone/>
            </a:pPr>
            <a:r>
              <a:rPr lang="en-US" sz="1300" dirty="0">
                <a:solidFill>
                  <a:srgbClr val="8B95AB"/>
                </a:solidFill>
                <a:latin typeface="Courier New" pitchFamily="34" charset="0"/>
                <a:ea typeface="Courier New" pitchFamily="34" charset="-122"/>
                <a:cs typeface="Courier New" pitchFamily="34" charset="-120"/>
              </a:rPr>
              <a:t>coverage 0.11 – 0.44 vs retrieved context</a:t>
            </a:r>
            <a:endParaRPr lang="en-US" sz="1300" dirty="0"/>
          </a:p>
        </p:txBody>
      </p:sp>
      <p:sp>
        <p:nvSpPr>
          <p:cNvPr id="11" name="Text 9"/>
          <p:cNvSpPr/>
          <p:nvPr/>
        </p:nvSpPr>
        <p:spPr>
          <a:xfrm>
            <a:off x="822960" y="4206240"/>
            <a:ext cx="10515600" cy="914400"/>
          </a:xfrm>
          <a:prstGeom prst="rect">
            <a:avLst/>
          </a:prstGeom>
          <a:noFill/>
          <a:ln/>
        </p:spPr>
        <p:txBody>
          <a:bodyPr wrap="square" lIns="0" tIns="0" rIns="0" bIns="0" rtlCol="0" anchor="ctr"/>
          <a:lstStyle/>
          <a:p>
            <a:pPr indent="0" marL="0">
              <a:buNone/>
            </a:pPr>
            <a:r>
              <a:rPr lang="en-US" sz="1500" dirty="0">
                <a:solidFill>
                  <a:srgbClr val="8B95AB"/>
                </a:solidFill>
                <a:latin typeface="Calibri" pitchFamily="34" charset="0"/>
                <a:ea typeface="Calibri" pitchFamily="34" charset="-122"/>
                <a:cs typeface="Calibri" pitchFamily="34" charset="-120"/>
              </a:rPr>
              <a:t>Same fabricated sentence, different coverage per document — lexical grounding is measured against whatever was retrieved. That variance is exactly why the upgrade path is a validated LLM-as-judge, not more string matching.</a:t>
            </a:r>
            <a:endParaRPr lang="en-US" sz="1500" dirty="0"/>
          </a:p>
        </p:txBody>
      </p:sp>
      <p:sp>
        <p:nvSpPr>
          <p:cNvPr id="12" name="Text 10"/>
          <p:cNvSpPr/>
          <p:nvPr/>
        </p:nvSpPr>
        <p:spPr>
          <a:xfrm>
            <a:off x="822960" y="5394960"/>
            <a:ext cx="10515600" cy="731520"/>
          </a:xfrm>
          <a:prstGeom prst="rect">
            <a:avLst/>
          </a:prstGeom>
          <a:noFill/>
          <a:ln/>
        </p:spPr>
        <p:txBody>
          <a:bodyPr wrap="square" lIns="0" tIns="0" rIns="0" bIns="0" rtlCol="0" anchor="ctr"/>
          <a:lstStyle/>
          <a:p>
            <a:pPr indent="0" marL="0">
              <a:buNone/>
            </a:pPr>
            <a:r>
              <a:rPr lang="en-US" sz="1500" b="1" dirty="0">
                <a:solidFill>
                  <a:srgbClr val="E8ECF4"/>
                </a:solidFill>
                <a:latin typeface="Calibri" pitchFamily="34" charset="0"/>
                <a:ea typeface="Calibri" pitchFamily="34" charset="-122"/>
                <a:cs typeface="Calibri" pitchFamily="34" charset="-120"/>
              </a:rPr>
              <a:t>Error output includes the query, the retrieved context, the flagged sentence, and its score — a reproducible defect report, not a red X.</a:t>
            </a:r>
            <a:endParaRPr lang="en-US" sz="15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F1420"/>
        </a:solidFill>
      </p:bgPr>
    </p:bg>
    <p:spTree>
      <p:nvGrpSpPr>
        <p:cNvPr id="1" name=""/>
        <p:cNvGrpSpPr/>
        <p:nvPr/>
      </p:nvGrpSpPr>
      <p:grpSpPr>
        <a:xfrm>
          <a:off x="0" y="0"/>
          <a:ext cx="0" cy="0"/>
          <a:chOff x="0" y="0"/>
          <a:chExt cx="0" cy="0"/>
        </a:xfrm>
      </p:grpSpPr>
      <p:sp>
        <p:nvSpPr>
          <p:cNvPr id="2" name="Text 0"/>
          <p:cNvSpPr/>
          <p:nvPr/>
        </p:nvSpPr>
        <p:spPr>
          <a:xfrm>
            <a:off x="822960" y="502920"/>
            <a:ext cx="10515600" cy="731520"/>
          </a:xfrm>
          <a:prstGeom prst="rect">
            <a:avLst/>
          </a:prstGeom>
          <a:noFill/>
          <a:ln/>
        </p:spPr>
        <p:txBody>
          <a:bodyPr wrap="square" lIns="0" tIns="0" rIns="0" bIns="0" rtlCol="0" anchor="ctr"/>
          <a:lstStyle/>
          <a:p>
            <a:pPr indent="0" marL="0">
              <a:buNone/>
            </a:pPr>
            <a:r>
              <a:rPr lang="en-US" sz="3400" b="1" dirty="0">
                <a:solidFill>
                  <a:srgbClr val="E8ECF4"/>
                </a:solidFill>
                <a:latin typeface="Calibri" pitchFamily="34" charset="0"/>
                <a:ea typeface="Calibri" pitchFamily="34" charset="-122"/>
                <a:cs typeface="Calibri" pitchFamily="34" charset="-120"/>
              </a:rPr>
              <a:t>The release gate</a:t>
            </a:r>
            <a:endParaRPr lang="en-US" sz="3400" dirty="0"/>
          </a:p>
        </p:txBody>
      </p:sp>
      <p:sp>
        <p:nvSpPr>
          <p:cNvPr id="3" name="Shape 1"/>
          <p:cNvSpPr/>
          <p:nvPr/>
        </p:nvSpPr>
        <p:spPr>
          <a:xfrm>
            <a:off x="822960" y="1463040"/>
            <a:ext cx="7498080" cy="3931920"/>
          </a:xfrm>
          <a:prstGeom prst="roundRect">
            <a:avLst>
              <a:gd name="adj" fmla="val 1860"/>
            </a:avLst>
          </a:prstGeom>
          <a:solidFill>
            <a:srgbClr val="0B0F19"/>
          </a:solidFill>
          <a:ln w="12700">
            <a:solidFill>
              <a:srgbClr val="2A3550"/>
            </a:solidFill>
            <a:prstDash val="solid"/>
          </a:ln>
        </p:spPr>
      </p:sp>
      <p:sp>
        <p:nvSpPr>
          <p:cNvPr id="4" name="Text 2"/>
          <p:cNvSpPr/>
          <p:nvPr/>
        </p:nvSpPr>
        <p:spPr>
          <a:xfrm>
            <a:off x="1097280" y="1691640"/>
            <a:ext cx="7040880" cy="365760"/>
          </a:xfrm>
          <a:prstGeom prst="rect">
            <a:avLst/>
          </a:prstGeom>
          <a:noFill/>
          <a:ln/>
        </p:spPr>
        <p:txBody>
          <a:bodyPr wrap="square" lIns="0" tIns="0" rIns="0" bIns="0" rtlCol="0" anchor="ctr"/>
          <a:lstStyle/>
          <a:p>
            <a:pPr indent="0" marL="0">
              <a:buNone/>
            </a:pPr>
            <a:r>
              <a:rPr lang="en-US" sz="1300" dirty="0">
                <a:solidFill>
                  <a:srgbClr val="8B95AB"/>
                </a:solidFill>
                <a:latin typeface="Courier New" pitchFamily="34" charset="0"/>
                <a:ea typeface="Courier New" pitchFamily="34" charset="-122"/>
                <a:cs typeface="Courier New" pitchFamily="34" charset="-120"/>
              </a:rPr>
              <a:t>dimension     baseline  candidate    delta   limit  status</a:t>
            </a:r>
            <a:endParaRPr lang="en-US" sz="1300" dirty="0"/>
          </a:p>
        </p:txBody>
      </p:sp>
      <p:sp>
        <p:nvSpPr>
          <p:cNvPr id="5" name="Text 3"/>
          <p:cNvSpPr/>
          <p:nvPr/>
        </p:nvSpPr>
        <p:spPr>
          <a:xfrm>
            <a:off x="1097280" y="2075688"/>
            <a:ext cx="7040880" cy="365760"/>
          </a:xfrm>
          <a:prstGeom prst="rect">
            <a:avLst/>
          </a:prstGeom>
          <a:noFill/>
          <a:ln/>
        </p:spPr>
        <p:txBody>
          <a:bodyPr wrap="square" lIns="0" tIns="0" rIns="0" bIns="0" rtlCol="0" anchor="ctr"/>
          <a:lstStyle/>
          <a:p>
            <a:pPr indent="0" marL="0">
              <a:buNone/>
            </a:pPr>
            <a:r>
              <a:rPr lang="en-US" sz="1300" dirty="0">
                <a:solidFill>
                  <a:srgbClr val="8B95AB"/>
                </a:solidFill>
                <a:latin typeface="Courier New" pitchFamily="34" charset="0"/>
                <a:ea typeface="Courier New" pitchFamily="34" charset="-122"/>
                <a:cs typeface="Courier New" pitchFamily="34" charset="-120"/>
              </a:rPr>
              <a:t>----------------------------------------------------------</a:t>
            </a:r>
            <a:endParaRPr lang="en-US" sz="1300" dirty="0"/>
          </a:p>
        </p:txBody>
      </p:sp>
      <p:sp>
        <p:nvSpPr>
          <p:cNvPr id="6" name="Text 4"/>
          <p:cNvSpPr/>
          <p:nvPr/>
        </p:nvSpPr>
        <p:spPr>
          <a:xfrm>
            <a:off x="1097280" y="2459736"/>
            <a:ext cx="7040880" cy="365760"/>
          </a:xfrm>
          <a:prstGeom prst="rect">
            <a:avLst/>
          </a:prstGeom>
          <a:noFill/>
          <a:ln/>
        </p:spPr>
        <p:txBody>
          <a:bodyPr wrap="square" lIns="0" tIns="0" rIns="0" bIns="0" rtlCol="0" anchor="ctr"/>
          <a:lstStyle/>
          <a:p>
            <a:pPr indent="0" marL="0">
              <a:buNone/>
            </a:pPr>
            <a:r>
              <a:rPr lang="en-US" sz="1300" dirty="0">
                <a:solidFill>
                  <a:srgbClr val="E8ECF4"/>
                </a:solidFill>
                <a:latin typeface="Courier New" pitchFamily="34" charset="0"/>
                <a:ea typeface="Courier New" pitchFamily="34" charset="-122"/>
                <a:cs typeface="Courier New" pitchFamily="34" charset="-120"/>
              </a:rPr>
              <a:t>accuracy        1.0000     1.0000  +0.0000   -0.02  ok</a:t>
            </a:r>
            <a:endParaRPr lang="en-US" sz="1300" dirty="0"/>
          </a:p>
        </p:txBody>
      </p:sp>
      <p:sp>
        <p:nvSpPr>
          <p:cNvPr id="7" name="Text 5"/>
          <p:cNvSpPr/>
          <p:nvPr/>
        </p:nvSpPr>
        <p:spPr>
          <a:xfrm>
            <a:off x="1097280" y="2843784"/>
            <a:ext cx="7040880" cy="365760"/>
          </a:xfrm>
          <a:prstGeom prst="rect">
            <a:avLst/>
          </a:prstGeom>
          <a:noFill/>
          <a:ln/>
        </p:spPr>
        <p:txBody>
          <a:bodyPr wrap="square" lIns="0" tIns="0" rIns="0" bIns="0" rtlCol="0" anchor="ctr"/>
          <a:lstStyle/>
          <a:p>
            <a:pPr indent="0" marL="0">
              <a:buNone/>
            </a:pPr>
            <a:r>
              <a:rPr lang="en-US" sz="1300" dirty="0">
                <a:solidFill>
                  <a:srgbClr val="E8ECF4"/>
                </a:solidFill>
                <a:latin typeface="Courier New" pitchFamily="34" charset="0"/>
                <a:ea typeface="Courier New" pitchFamily="34" charset="-122"/>
                <a:cs typeface="Courier New" pitchFamily="34" charset="-120"/>
              </a:rPr>
              <a:t>consistency     0.9634     0.9741  +0.0107   -0.10  ok</a:t>
            </a:r>
            <a:endParaRPr lang="en-US" sz="1300" dirty="0"/>
          </a:p>
        </p:txBody>
      </p:sp>
      <p:sp>
        <p:nvSpPr>
          <p:cNvPr id="8" name="Text 6"/>
          <p:cNvSpPr/>
          <p:nvPr/>
        </p:nvSpPr>
        <p:spPr>
          <a:xfrm>
            <a:off x="1097280" y="3227832"/>
            <a:ext cx="7040880" cy="365760"/>
          </a:xfrm>
          <a:prstGeom prst="rect">
            <a:avLst/>
          </a:prstGeom>
          <a:noFill/>
          <a:ln/>
        </p:spPr>
        <p:txBody>
          <a:bodyPr wrap="square" lIns="0" tIns="0" rIns="0" bIns="0" rtlCol="0" anchor="ctr"/>
          <a:lstStyle/>
          <a:p>
            <a:pPr indent="0" marL="0">
              <a:buNone/>
            </a:pPr>
            <a:r>
              <a:rPr lang="en-US" sz="1300" b="1" dirty="0">
                <a:solidFill>
                  <a:srgbClr val="FF5470"/>
                </a:solidFill>
                <a:latin typeface="Courier New" pitchFamily="34" charset="0"/>
                <a:ea typeface="Courier New" pitchFamily="34" charset="-122"/>
                <a:cs typeface="Courier New" pitchFamily="34" charset="-120"/>
              </a:rPr>
              <a:t>grounding       1.0000     0.7244  -0.2756   -0.02  FAIL</a:t>
            </a:r>
            <a:endParaRPr lang="en-US" sz="1300" dirty="0"/>
          </a:p>
        </p:txBody>
      </p:sp>
      <p:sp>
        <p:nvSpPr>
          <p:cNvPr id="9" name="Text 7"/>
          <p:cNvSpPr/>
          <p:nvPr/>
        </p:nvSpPr>
        <p:spPr>
          <a:xfrm>
            <a:off x="1097280" y="3611880"/>
            <a:ext cx="7040880" cy="365760"/>
          </a:xfrm>
          <a:prstGeom prst="rect">
            <a:avLst/>
          </a:prstGeom>
          <a:noFill/>
          <a:ln/>
        </p:spPr>
        <p:txBody>
          <a:bodyPr wrap="square" lIns="0" tIns="0" rIns="0" bIns="0" rtlCol="0" anchor="ctr"/>
          <a:lstStyle/>
          <a:p>
            <a:pPr indent="0" marL="0">
              <a:buNone/>
            </a:pPr>
            <a:r>
              <a:rPr lang="en-US" sz="1300" dirty="0">
                <a:solidFill>
                  <a:srgbClr val="E8ECF4"/>
                </a:solidFill>
                <a:latin typeface="Courier New" pitchFamily="34" charset="0"/>
                <a:ea typeface="Courier New" pitchFamily="34" charset="-122"/>
                <a:cs typeface="Courier New" pitchFamily="34" charset="-120"/>
              </a:rPr>
              <a:t>relevance       1.0000     1.0000  +0.0000   -0.05  ok</a:t>
            </a:r>
            <a:endParaRPr lang="en-US" sz="1300" dirty="0"/>
          </a:p>
        </p:txBody>
      </p:sp>
      <p:sp>
        <p:nvSpPr>
          <p:cNvPr id="10" name="Text 8"/>
          <p:cNvSpPr/>
          <p:nvPr/>
        </p:nvSpPr>
        <p:spPr>
          <a:xfrm>
            <a:off x="1097280" y="3995928"/>
            <a:ext cx="7040880" cy="365760"/>
          </a:xfrm>
          <a:prstGeom prst="rect">
            <a:avLst/>
          </a:prstGeom>
          <a:noFill/>
          <a:ln/>
        </p:spPr>
        <p:txBody>
          <a:bodyPr wrap="square" lIns="0" tIns="0" rIns="0" bIns="0" rtlCol="0" anchor="ctr"/>
          <a:lstStyle/>
          <a:p>
            <a:pPr indent="0" marL="0">
              <a:buNone/>
            </a:pPr>
            <a:r>
              <a:rPr lang="en-US" sz="1300" dirty="0">
                <a:solidFill>
                  <a:srgbClr val="E8ECF4"/>
                </a:solidFill>
                <a:latin typeface="Courier New" pitchFamily="34" charset="0"/>
                <a:ea typeface="Courier New" pitchFamily="34" charset="-122"/>
                <a:cs typeface="Courier New" pitchFamily="34" charset="-120"/>
              </a:rPr>
              <a:t>safety          1.0000     1.0000  +0.0000   -0.00  ok</a:t>
            </a:r>
            <a:endParaRPr lang="en-US" sz="1300" dirty="0"/>
          </a:p>
        </p:txBody>
      </p:sp>
      <p:sp>
        <p:nvSpPr>
          <p:cNvPr id="11" name="Text 9"/>
          <p:cNvSpPr/>
          <p:nvPr/>
        </p:nvSpPr>
        <p:spPr>
          <a:xfrm>
            <a:off x="1097280" y="4379976"/>
            <a:ext cx="7040880" cy="365760"/>
          </a:xfrm>
          <a:prstGeom prst="rect">
            <a:avLst/>
          </a:prstGeom>
          <a:noFill/>
          <a:ln/>
        </p:spPr>
        <p:txBody>
          <a:bodyPr wrap="square" lIns="0" tIns="0" rIns="0" bIns="0" rtlCol="0" anchor="ctr"/>
          <a:lstStyle/>
          <a:p>
            <a:pPr indent="0" marL="0">
              <a:buNone/>
            </a:pPr>
            <a:r>
              <a:rPr lang="en-US" sz="1300" dirty="0">
                <a:solidFill>
                  <a:srgbClr val="E8ECF4"/>
                </a:solidFill>
                <a:latin typeface="Courier New" pitchFamily="34" charset="0"/>
                <a:ea typeface="Courier New" pitchFamily="34" charset="-122"/>
                <a:cs typeface="Courier New" pitchFamily="34" charset="-120"/>
              </a:rPr>
              <a:t>----------------------------------------------------------</a:t>
            </a:r>
            <a:endParaRPr lang="en-US" sz="1300" dirty="0"/>
          </a:p>
        </p:txBody>
      </p:sp>
      <p:sp>
        <p:nvSpPr>
          <p:cNvPr id="12" name="Text 10"/>
          <p:cNvSpPr/>
          <p:nvPr/>
        </p:nvSpPr>
        <p:spPr>
          <a:xfrm>
            <a:off x="1097280" y="4764024"/>
            <a:ext cx="7040880" cy="365760"/>
          </a:xfrm>
          <a:prstGeom prst="rect">
            <a:avLst/>
          </a:prstGeom>
          <a:noFill/>
          <a:ln/>
        </p:spPr>
        <p:txBody>
          <a:bodyPr wrap="square" lIns="0" tIns="0" rIns="0" bIns="0" rtlCol="0" anchor="ctr"/>
          <a:lstStyle/>
          <a:p>
            <a:pPr indent="0" marL="0">
              <a:buNone/>
            </a:pPr>
            <a:r>
              <a:rPr lang="en-US" sz="1300" b="1" dirty="0">
                <a:solidFill>
                  <a:srgbClr val="FF5470"/>
                </a:solidFill>
                <a:latin typeface="Courier New" pitchFamily="34" charset="0"/>
                <a:ea typeface="Courier New" pitchFamily="34" charset="-122"/>
                <a:cs typeface="Courier New" pitchFamily="34" charset="-120"/>
              </a:rPr>
              <a:t>REGRESSION DETECTED - do not ship        exit code 1</a:t>
            </a:r>
            <a:endParaRPr lang="en-US" sz="1300" dirty="0"/>
          </a:p>
        </p:txBody>
      </p:sp>
      <p:sp>
        <p:nvSpPr>
          <p:cNvPr id="13" name="Shape 11"/>
          <p:cNvSpPr/>
          <p:nvPr/>
        </p:nvSpPr>
        <p:spPr>
          <a:xfrm>
            <a:off x="8595360" y="1463040"/>
            <a:ext cx="2743200" cy="3931920"/>
          </a:xfrm>
          <a:prstGeom prst="roundRect">
            <a:avLst>
              <a:gd name="adj" fmla="val 2667"/>
            </a:avLst>
          </a:prstGeom>
          <a:solidFill>
            <a:srgbClr val="1D2639"/>
          </a:solidFill>
          <a:ln w="12700">
            <a:solidFill>
              <a:srgbClr val="2A3550"/>
            </a:solidFill>
            <a:prstDash val="solid"/>
          </a:ln>
        </p:spPr>
      </p:sp>
      <p:sp>
        <p:nvSpPr>
          <p:cNvPr id="14" name="Text 12"/>
          <p:cNvSpPr/>
          <p:nvPr/>
        </p:nvSpPr>
        <p:spPr>
          <a:xfrm>
            <a:off x="8823960" y="1691640"/>
            <a:ext cx="2286000" cy="640080"/>
          </a:xfrm>
          <a:prstGeom prst="rect">
            <a:avLst/>
          </a:prstGeom>
          <a:noFill/>
          <a:ln/>
        </p:spPr>
        <p:txBody>
          <a:bodyPr wrap="square" lIns="0" tIns="0" rIns="0" bIns="0" rtlCol="0" anchor="ctr"/>
          <a:lstStyle/>
          <a:p>
            <a:pPr indent="0" marL="0">
              <a:buNone/>
            </a:pPr>
            <a:r>
              <a:rPr lang="en-US" sz="1500" b="1" dirty="0">
                <a:solidFill>
                  <a:srgbClr val="E8ECF4"/>
                </a:solidFill>
                <a:latin typeface="Calibri" pitchFamily="34" charset="0"/>
                <a:ea typeface="Calibri" pitchFamily="34" charset="-122"/>
                <a:cs typeface="Calibri" pitchFamily="34" charset="-120"/>
              </a:rPr>
              <a:t>Per-dimension thresholds</a:t>
            </a:r>
            <a:endParaRPr lang="en-US" sz="1500" dirty="0"/>
          </a:p>
        </p:txBody>
      </p:sp>
      <p:sp>
        <p:nvSpPr>
          <p:cNvPr id="15" name="Text 13"/>
          <p:cNvSpPr/>
          <p:nvPr/>
        </p:nvSpPr>
        <p:spPr>
          <a:xfrm>
            <a:off x="8823960" y="2377440"/>
            <a:ext cx="2286000" cy="2743200"/>
          </a:xfrm>
          <a:prstGeom prst="rect">
            <a:avLst/>
          </a:prstGeom>
          <a:noFill/>
          <a:ln/>
        </p:spPr>
        <p:txBody>
          <a:bodyPr wrap="square" lIns="0" tIns="0" rIns="0" bIns="0" rtlCol="0" anchor="ctr"/>
          <a:lstStyle/>
          <a:p>
            <a:pPr indent="0" marL="0">
              <a:buNone/>
            </a:pPr>
            <a:r>
              <a:rPr lang="en-US" sz="1300" dirty="0">
                <a:solidFill>
                  <a:srgbClr val="8B95AB"/>
                </a:solidFill>
                <a:latin typeface="Calibri" pitchFamily="34" charset="0"/>
                <a:ea typeface="Calibri" pitchFamily="34" charset="-122"/>
                <a:cs typeface="Calibri" pitchFamily="34" charset="-120"/>
              </a:rPr>
              <a:t>A 2-point dip in consistency is noise.</a:t>
            </a:r>
            <a:endParaRPr lang="en-US" sz="1300" dirty="0"/>
          </a:p>
          <a:p>
            <a:pPr indent="0" marL="0">
              <a:buNone/>
            </a:pPr>
            <a:endParaRPr lang="en-US" sz="1300" dirty="0"/>
          </a:p>
          <a:p>
            <a:pPr indent="0" marL="0">
              <a:buNone/>
            </a:pPr>
            <a:r>
              <a:rPr lang="en-US" sz="1300" dirty="0">
                <a:solidFill>
                  <a:srgbClr val="8B95AB"/>
                </a:solidFill>
                <a:latin typeface="Calibri" pitchFamily="34" charset="0"/>
                <a:ea typeface="Calibri" pitchFamily="34" charset="-122"/>
                <a:cs typeface="Calibri" pitchFamily="34" charset="-120"/>
              </a:rPr>
              <a:t>A 2-point dip in safety is an incident.</a:t>
            </a:r>
            <a:endParaRPr lang="en-US" sz="1300" dirty="0"/>
          </a:p>
          <a:p>
            <a:pPr indent="0" marL="0">
              <a:buNone/>
            </a:pPr>
            <a:endParaRPr lang="en-US" sz="1300" dirty="0"/>
          </a:p>
          <a:p>
            <a:pPr indent="0" marL="0">
              <a:buNone/>
            </a:pPr>
            <a:r>
              <a:rPr lang="en-US" sz="1300" dirty="0">
                <a:solidFill>
                  <a:srgbClr val="8B95AB"/>
                </a:solidFill>
                <a:latin typeface="Calibri" pitchFamily="34" charset="0"/>
                <a:ea typeface="Calibri" pitchFamily="34" charset="-122"/>
                <a:cs typeface="Calibri" pitchFamily="34" charset="-120"/>
              </a:rPr>
              <a:t>Safety tolerance: zero. Any drop fails.</a:t>
            </a:r>
            <a:endParaRPr lang="en-US" sz="1300" dirty="0"/>
          </a:p>
        </p:txBody>
      </p:sp>
      <p:sp>
        <p:nvSpPr>
          <p:cNvPr id="16" name="Text 14"/>
          <p:cNvSpPr/>
          <p:nvPr/>
        </p:nvSpPr>
        <p:spPr>
          <a:xfrm>
            <a:off x="822960" y="5760720"/>
            <a:ext cx="10515600" cy="457200"/>
          </a:xfrm>
          <a:prstGeom prst="rect">
            <a:avLst/>
          </a:prstGeom>
          <a:noFill/>
          <a:ln/>
        </p:spPr>
        <p:txBody>
          <a:bodyPr wrap="square" lIns="0" tIns="0" rIns="0" bIns="0" rtlCol="0" anchor="ctr"/>
          <a:lstStyle/>
          <a:p>
            <a:pPr indent="0" marL="0">
              <a:buNone/>
            </a:pPr>
            <a:r>
              <a:rPr lang="en-US" sz="1500" i="1" dirty="0">
                <a:solidFill>
                  <a:srgbClr val="FFB454"/>
                </a:solidFill>
                <a:latin typeface="Calibri" pitchFamily="34" charset="0"/>
                <a:ea typeface="Calibri" pitchFamily="34" charset="-122"/>
                <a:cs typeface="Calibri" pitchFamily="34" charset="-120"/>
              </a:rPr>
              <a:t>Exit code 1 is what blocks the merge — the gate is enforcement, not a report.</a:t>
            </a:r>
            <a:endParaRPr lang="en-US" sz="15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F1420"/>
        </a:solidFill>
      </p:bgPr>
    </p:bg>
    <p:spTree>
      <p:nvGrpSpPr>
        <p:cNvPr id="1" name=""/>
        <p:cNvGrpSpPr/>
        <p:nvPr/>
      </p:nvGrpSpPr>
      <p:grpSpPr>
        <a:xfrm>
          <a:off x="0" y="0"/>
          <a:ext cx="0" cy="0"/>
          <a:chOff x="0" y="0"/>
          <a:chExt cx="0" cy="0"/>
        </a:xfrm>
      </p:grpSpPr>
      <p:sp>
        <p:nvSpPr>
          <p:cNvPr id="2" name="Text 0"/>
          <p:cNvSpPr/>
          <p:nvPr/>
        </p:nvSpPr>
        <p:spPr>
          <a:xfrm>
            <a:off x="822960" y="502920"/>
            <a:ext cx="10515600" cy="731520"/>
          </a:xfrm>
          <a:prstGeom prst="rect">
            <a:avLst/>
          </a:prstGeom>
          <a:noFill/>
          <a:ln/>
        </p:spPr>
        <p:txBody>
          <a:bodyPr wrap="square" lIns="0" tIns="0" rIns="0" bIns="0" rtlCol="0" anchor="ctr"/>
          <a:lstStyle/>
          <a:p>
            <a:pPr indent="0" marL="0">
              <a:buNone/>
            </a:pPr>
            <a:r>
              <a:rPr lang="en-US" sz="3400" b="1" dirty="0">
                <a:solidFill>
                  <a:srgbClr val="E8ECF4"/>
                </a:solidFill>
                <a:latin typeface="Calibri" pitchFamily="34" charset="0"/>
                <a:ea typeface="Calibri" pitchFamily="34" charset="-122"/>
                <a:cs typeface="Calibri" pitchFamily="34" charset="-120"/>
              </a:rPr>
              <a:t>Wired into delivery, not bolted on</a:t>
            </a:r>
            <a:endParaRPr lang="en-US" sz="3400" dirty="0"/>
          </a:p>
        </p:txBody>
      </p:sp>
      <p:sp>
        <p:nvSpPr>
          <p:cNvPr id="3" name="Shape 1"/>
          <p:cNvSpPr/>
          <p:nvPr/>
        </p:nvSpPr>
        <p:spPr>
          <a:xfrm>
            <a:off x="822960" y="1645920"/>
            <a:ext cx="5074920" cy="3657600"/>
          </a:xfrm>
          <a:prstGeom prst="roundRect">
            <a:avLst>
              <a:gd name="adj" fmla="val 2000"/>
            </a:avLst>
          </a:prstGeom>
          <a:solidFill>
            <a:srgbClr val="171E2E"/>
          </a:solidFill>
          <a:ln w="12700">
            <a:solidFill>
              <a:srgbClr val="2A3550"/>
            </a:solidFill>
            <a:prstDash val="solid"/>
          </a:ln>
        </p:spPr>
      </p:sp>
      <p:sp>
        <p:nvSpPr>
          <p:cNvPr id="4" name="Text 2"/>
          <p:cNvSpPr/>
          <p:nvPr/>
        </p:nvSpPr>
        <p:spPr>
          <a:xfrm>
            <a:off x="1097280" y="1920240"/>
            <a:ext cx="4572000" cy="457200"/>
          </a:xfrm>
          <a:prstGeom prst="rect">
            <a:avLst/>
          </a:prstGeom>
          <a:noFill/>
          <a:ln/>
        </p:spPr>
        <p:txBody>
          <a:bodyPr wrap="square" lIns="0" tIns="0" rIns="0" bIns="0" rtlCol="0" anchor="ctr"/>
          <a:lstStyle/>
          <a:p>
            <a:pPr indent="0" marL="0">
              <a:buNone/>
            </a:pPr>
            <a:r>
              <a:rPr lang="en-US" sz="1800" b="1" dirty="0">
                <a:solidFill>
                  <a:srgbClr val="5B8CFF"/>
                </a:solidFill>
                <a:latin typeface="Calibri" pitchFamily="34" charset="0"/>
                <a:ea typeface="Calibri" pitchFamily="34" charset="-122"/>
                <a:cs typeface="Calibri" pitchFamily="34" charset="-120"/>
              </a:rPr>
              <a:t>CI · GitHub Actions</a:t>
            </a:r>
            <a:endParaRPr lang="en-US" sz="1800" dirty="0"/>
          </a:p>
        </p:txBody>
      </p:sp>
      <p:sp>
        <p:nvSpPr>
          <p:cNvPr id="5" name="Text 3"/>
          <p:cNvSpPr/>
          <p:nvPr/>
        </p:nvSpPr>
        <p:spPr>
          <a:xfrm>
            <a:off x="1097280" y="2468880"/>
            <a:ext cx="4572000" cy="2560320"/>
          </a:xfrm>
          <a:prstGeom prst="rect">
            <a:avLst/>
          </a:prstGeom>
          <a:noFill/>
          <a:ln/>
        </p:spPr>
        <p:txBody>
          <a:bodyPr wrap="square" lIns="0" tIns="0" rIns="0" bIns="0" rtlCol="0" anchor="ctr"/>
          <a:lstStyle/>
          <a:p>
            <a:pPr indent="0" marL="0">
              <a:buNone/>
            </a:pPr>
            <a:r>
              <a:rPr lang="en-US" sz="1400" b="1" dirty="0">
                <a:solidFill>
                  <a:srgbClr val="E8ECF4"/>
                </a:solidFill>
                <a:latin typeface="Calibri" pitchFamily="34" charset="0"/>
                <a:ea typeface="Calibri" pitchFamily="34" charset="-122"/>
                <a:cs typeface="Calibri" pitchFamily="34" charset="-120"/>
              </a:rPr>
              <a:t>Every push and PR:</a:t>
            </a:r>
            <a:endParaRPr lang="en-US" sz="1400" dirty="0"/>
          </a:p>
          <a:p>
            <a:pPr indent="0" marL="0">
              <a:buNone/>
            </a:pPr>
            <a:r>
              <a:rPr lang="en-US" sz="1400" dirty="0">
                <a:solidFill>
                  <a:srgbClr val="8B95AB"/>
                </a:solidFill>
                <a:latin typeface="Calibri" pitchFamily="34" charset="0"/>
                <a:ea typeface="Calibri" pitchFamily="34" charset="-122"/>
                <a:cs typeface="Calibri" pitchFamily="34" charset="-120"/>
              </a:rPr>
              <a:t>pytest → full evaluation → regression gate vs committed baseline</a:t>
            </a:r>
            <a:endParaRPr lang="en-US" sz="1400" dirty="0"/>
          </a:p>
          <a:p>
            <a:pPr indent="0" marL="0">
              <a:buNone/>
            </a:pPr>
            <a:r>
              <a:rPr lang="en-US" sz="1400" dirty="0">
                <a:solidFill>
                  <a:srgbClr val="000000"/>
                </a:solidFill>
                <a:latin typeface="Calibri" pitchFamily="34" charset="0"/>
                <a:ea typeface="Calibri" pitchFamily="34" charset="-122"/>
                <a:cs typeface="Calibri" pitchFamily="34" charset="-120"/>
              </a:rPr>
              <a:t> </a:t>
            </a:r>
            <a:endParaRPr lang="en-US" sz="1400" dirty="0"/>
          </a:p>
          <a:p>
            <a:pPr indent="0" marL="0">
              <a:buNone/>
            </a:pPr>
            <a:r>
              <a:rPr lang="en-US" sz="1400" dirty="0">
                <a:solidFill>
                  <a:srgbClr val="8B95AB"/>
                </a:solidFill>
                <a:latin typeface="Calibri" pitchFamily="34" charset="0"/>
                <a:ea typeface="Calibri" pitchFamily="34" charset="-122"/>
                <a:cs typeface="Calibri" pitchFamily="34" charset="-120"/>
              </a:rPr>
              <a:t>Scored report uploaded as an artifact — release evidence: what the AI scored, on which cases, at which commit.</a:t>
            </a:r>
            <a:endParaRPr lang="en-US" sz="1400" dirty="0"/>
          </a:p>
        </p:txBody>
      </p:sp>
      <p:sp>
        <p:nvSpPr>
          <p:cNvPr id="6" name="Shape 4"/>
          <p:cNvSpPr/>
          <p:nvPr/>
        </p:nvSpPr>
        <p:spPr>
          <a:xfrm>
            <a:off x="6263640" y="1645920"/>
            <a:ext cx="5074920" cy="3657600"/>
          </a:xfrm>
          <a:prstGeom prst="roundRect">
            <a:avLst>
              <a:gd name="adj" fmla="val 2000"/>
            </a:avLst>
          </a:prstGeom>
          <a:solidFill>
            <a:srgbClr val="171E2E"/>
          </a:solidFill>
          <a:ln w="12700">
            <a:solidFill>
              <a:srgbClr val="2A3550"/>
            </a:solidFill>
            <a:prstDash val="solid"/>
          </a:ln>
        </p:spPr>
      </p:sp>
      <p:sp>
        <p:nvSpPr>
          <p:cNvPr id="7" name="Text 5"/>
          <p:cNvSpPr/>
          <p:nvPr/>
        </p:nvSpPr>
        <p:spPr>
          <a:xfrm>
            <a:off x="6537960" y="1920240"/>
            <a:ext cx="4572000" cy="457200"/>
          </a:xfrm>
          <a:prstGeom prst="rect">
            <a:avLst/>
          </a:prstGeom>
          <a:noFill/>
          <a:ln/>
        </p:spPr>
        <p:txBody>
          <a:bodyPr wrap="square" lIns="0" tIns="0" rIns="0" bIns="0" rtlCol="0" anchor="ctr"/>
          <a:lstStyle/>
          <a:p>
            <a:pPr indent="0" marL="0">
              <a:buNone/>
            </a:pPr>
            <a:r>
              <a:rPr lang="en-US" sz="1800" b="1" dirty="0">
                <a:solidFill>
                  <a:srgbClr val="3ECF8E"/>
                </a:solidFill>
                <a:latin typeface="Calibri" pitchFamily="34" charset="0"/>
                <a:ea typeface="Calibri" pitchFamily="34" charset="-122"/>
                <a:cs typeface="Calibri" pitchFamily="34" charset="-120"/>
              </a:rPr>
              <a:t>Dashboard · Flask on Render</a:t>
            </a:r>
            <a:endParaRPr lang="en-US" sz="1800" dirty="0"/>
          </a:p>
        </p:txBody>
      </p:sp>
      <p:sp>
        <p:nvSpPr>
          <p:cNvPr id="8" name="Text 6"/>
          <p:cNvSpPr/>
          <p:nvPr/>
        </p:nvSpPr>
        <p:spPr>
          <a:xfrm>
            <a:off x="6537960" y="2468880"/>
            <a:ext cx="4572000" cy="2560320"/>
          </a:xfrm>
          <a:prstGeom prst="rect">
            <a:avLst/>
          </a:prstGeom>
          <a:noFill/>
          <a:ln/>
        </p:spPr>
        <p:txBody>
          <a:bodyPr wrap="square" lIns="0" tIns="0" rIns="0" bIns="0" rtlCol="0" anchor="ctr"/>
          <a:lstStyle/>
          <a:p>
            <a:pPr indent="0" marL="0">
              <a:buNone/>
            </a:pPr>
            <a:r>
              <a:rPr lang="en-US" sz="1400" dirty="0">
                <a:solidFill>
                  <a:srgbClr val="8B95AB"/>
                </a:solidFill>
                <a:latin typeface="Calibri" pitchFamily="34" charset="0"/>
                <a:ea typeface="Calibri" pitchFamily="34" charset="-122"/>
                <a:cs typeface="Calibri" pitchFamily="34" charset="-120"/>
              </a:rPr>
              <a:t>Run any bot configuration in the browser, watch the five dimensions score live, diff against baseline with the same ship / no-ship verdict.</a:t>
            </a:r>
            <a:endParaRPr lang="en-US" sz="1400" dirty="0"/>
          </a:p>
          <a:p>
            <a:pPr indent="0" marL="0">
              <a:buNone/>
            </a:pPr>
            <a:r>
              <a:rPr lang="en-US" sz="1400" dirty="0">
                <a:solidFill>
                  <a:srgbClr val="000000"/>
                </a:solidFill>
                <a:latin typeface="Calibri" pitchFamily="34" charset="0"/>
                <a:ea typeface="Calibri" pitchFamily="34" charset="-122"/>
                <a:cs typeface="Calibri" pitchFamily="34" charset="-120"/>
              </a:rPr>
              <a:t> </a:t>
            </a:r>
            <a:endParaRPr lang="en-US" sz="1400" dirty="0"/>
          </a:p>
          <a:p>
            <a:pPr indent="0" marL="0">
              <a:buNone/>
            </a:pPr>
            <a:r>
              <a:rPr lang="en-US" sz="1400" b="1" dirty="0">
                <a:solidFill>
                  <a:srgbClr val="E8ECF4"/>
                </a:solidFill>
                <a:latin typeface="Calibri" pitchFamily="34" charset="0"/>
                <a:ea typeface="Calibri" pitchFamily="34" charset="-122"/>
                <a:cs typeface="Calibri" pitchFamily="34" charset="-120"/>
              </a:rPr>
              <a:t>Same code paths as CI — a window onto the harness, not a reimplementation.</a:t>
            </a:r>
            <a:endParaRPr lang="en-US" sz="1400" dirty="0"/>
          </a:p>
        </p:txBody>
      </p:sp>
      <p:sp>
        <p:nvSpPr>
          <p:cNvPr id="9" name="Text 7"/>
          <p:cNvSpPr/>
          <p:nvPr/>
        </p:nvSpPr>
        <p:spPr>
          <a:xfrm>
            <a:off x="822960" y="5669280"/>
            <a:ext cx="10515600" cy="457200"/>
          </a:xfrm>
          <a:prstGeom prst="rect">
            <a:avLst/>
          </a:prstGeom>
          <a:noFill/>
          <a:ln/>
        </p:spPr>
        <p:txBody>
          <a:bodyPr wrap="square" lIns="0" tIns="0" rIns="0" bIns="0" rtlCol="0" anchor="ctr"/>
          <a:lstStyle/>
          <a:p>
            <a:pPr indent="0" marL="0">
              <a:buNone/>
            </a:pPr>
            <a:r>
              <a:rPr lang="en-US" sz="1400" dirty="0">
                <a:solidFill>
                  <a:srgbClr val="8B95AB"/>
                </a:solidFill>
                <a:latin typeface="Courier New" pitchFamily="34" charset="0"/>
                <a:ea typeface="Courier New" pitchFamily="34" charset="-122"/>
                <a:cs typeface="Courier New" pitchFamily="34" charset="-120"/>
              </a:rPr>
              <a:t>Repo · dashboard · CI runs: github.com/chgallegos/rag-eval-harness</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F1420"/>
        </a:solidFill>
      </p:bgPr>
    </p:bg>
    <p:spTree>
      <p:nvGrpSpPr>
        <p:cNvPr id="1" name=""/>
        <p:cNvGrpSpPr/>
        <p:nvPr/>
      </p:nvGrpSpPr>
      <p:grpSpPr>
        <a:xfrm>
          <a:off x="0" y="0"/>
          <a:ext cx="0" cy="0"/>
          <a:chOff x="0" y="0"/>
          <a:chExt cx="0" cy="0"/>
        </a:xfrm>
      </p:grpSpPr>
      <p:sp>
        <p:nvSpPr>
          <p:cNvPr id="2" name="Text 0"/>
          <p:cNvSpPr/>
          <p:nvPr/>
        </p:nvSpPr>
        <p:spPr>
          <a:xfrm>
            <a:off x="822960" y="502920"/>
            <a:ext cx="10515600" cy="731520"/>
          </a:xfrm>
          <a:prstGeom prst="rect">
            <a:avLst/>
          </a:prstGeom>
          <a:noFill/>
          <a:ln/>
        </p:spPr>
        <p:txBody>
          <a:bodyPr wrap="square" lIns="0" tIns="0" rIns="0" bIns="0" rtlCol="0" anchor="ctr"/>
          <a:lstStyle/>
          <a:p>
            <a:pPr indent="0" marL="0">
              <a:buNone/>
            </a:pPr>
            <a:r>
              <a:rPr lang="en-US" sz="3400" b="1" dirty="0">
                <a:solidFill>
                  <a:srgbClr val="E8ECF4"/>
                </a:solidFill>
                <a:latin typeface="Calibri" pitchFamily="34" charset="0"/>
                <a:ea typeface="Calibri" pitchFamily="34" charset="-122"/>
                <a:cs typeface="Calibri" pitchFamily="34" charset="-120"/>
              </a:rPr>
              <a:t>Honest limits, and the roadmap they imply</a:t>
            </a:r>
            <a:endParaRPr lang="en-US" sz="3400" dirty="0"/>
          </a:p>
        </p:txBody>
      </p:sp>
      <p:sp>
        <p:nvSpPr>
          <p:cNvPr id="3" name="Shape 1"/>
          <p:cNvSpPr/>
          <p:nvPr/>
        </p:nvSpPr>
        <p:spPr>
          <a:xfrm>
            <a:off x="822960" y="1554480"/>
            <a:ext cx="10515600" cy="1325880"/>
          </a:xfrm>
          <a:prstGeom prst="roundRect">
            <a:avLst>
              <a:gd name="adj" fmla="val 5517"/>
            </a:avLst>
          </a:prstGeom>
          <a:solidFill>
            <a:srgbClr val="171E2E"/>
          </a:solidFill>
          <a:ln w="12700">
            <a:solidFill>
              <a:srgbClr val="2A3550"/>
            </a:solidFill>
            <a:prstDash val="solid"/>
          </a:ln>
        </p:spPr>
      </p:sp>
      <p:sp>
        <p:nvSpPr>
          <p:cNvPr id="4" name="Text 2"/>
          <p:cNvSpPr/>
          <p:nvPr/>
        </p:nvSpPr>
        <p:spPr>
          <a:xfrm>
            <a:off x="1097280" y="1664208"/>
            <a:ext cx="3108960" cy="1097280"/>
          </a:xfrm>
          <a:prstGeom prst="rect">
            <a:avLst/>
          </a:prstGeom>
          <a:noFill/>
          <a:ln/>
        </p:spPr>
        <p:txBody>
          <a:bodyPr wrap="square" lIns="0" tIns="0" rIns="0" bIns="0" rtlCol="0" anchor="ctr"/>
          <a:lstStyle/>
          <a:p>
            <a:pPr indent="0" marL="0">
              <a:buNone/>
            </a:pPr>
            <a:r>
              <a:rPr lang="en-US" sz="1500" b="1" dirty="0">
                <a:solidFill>
                  <a:srgbClr val="FFB454"/>
                </a:solidFill>
                <a:latin typeface="Calibri" pitchFamily="34" charset="0"/>
                <a:ea typeface="Calibri" pitchFamily="34" charset="-122"/>
                <a:cs typeface="Calibri" pitchFamily="34" charset="-120"/>
              </a:rPr>
              <a:t>Scorers are lexical heuristics</a:t>
            </a:r>
            <a:endParaRPr lang="en-US" sz="1500" dirty="0"/>
          </a:p>
        </p:txBody>
      </p:sp>
      <p:sp>
        <p:nvSpPr>
          <p:cNvPr id="5" name="Text 3"/>
          <p:cNvSpPr/>
          <p:nvPr/>
        </p:nvSpPr>
        <p:spPr>
          <a:xfrm>
            <a:off x="4297680" y="1664208"/>
            <a:ext cx="3291840" cy="1143000"/>
          </a:xfrm>
          <a:prstGeom prst="rect">
            <a:avLst/>
          </a:prstGeom>
          <a:noFill/>
          <a:ln/>
        </p:spPr>
        <p:txBody>
          <a:bodyPr wrap="square" lIns="0" tIns="0" rIns="0" bIns="0" rtlCol="0" anchor="ctr"/>
          <a:lstStyle/>
          <a:p>
            <a:pPr indent="0" marL="0">
              <a:buNone/>
            </a:pPr>
            <a:r>
              <a:rPr lang="en-US" sz="1200" dirty="0">
                <a:solidFill>
                  <a:srgbClr val="8B95AB"/>
                </a:solidFill>
                <a:latin typeface="Calibri" pitchFamily="34" charset="0"/>
                <a:ea typeface="Calibri" pitchFamily="34" charset="-122"/>
                <a:cs typeface="Calibri" pitchFamily="34" charset="-120"/>
              </a:rPr>
              <a:t>Token overlap catches fabricated sentences and retrieval collapse; it won't catch a fluent paraphrase that inverts meaning.</a:t>
            </a:r>
            <a:endParaRPr lang="en-US" sz="1200" dirty="0"/>
          </a:p>
        </p:txBody>
      </p:sp>
      <p:sp>
        <p:nvSpPr>
          <p:cNvPr id="6" name="Text 4"/>
          <p:cNvSpPr/>
          <p:nvPr/>
        </p:nvSpPr>
        <p:spPr>
          <a:xfrm>
            <a:off x="7772400" y="1664208"/>
            <a:ext cx="3291840" cy="1143000"/>
          </a:xfrm>
          <a:prstGeom prst="rect">
            <a:avLst/>
          </a:prstGeom>
          <a:noFill/>
          <a:ln/>
        </p:spPr>
        <p:txBody>
          <a:bodyPr wrap="square" lIns="0" tIns="0" rIns="0" bIns="0" rtlCol="0" anchor="ctr"/>
          <a:lstStyle/>
          <a:p>
            <a:pPr indent="0" marL="0">
              <a:buNone/>
            </a:pPr>
            <a:r>
              <a:rPr lang="en-US" sz="1200" dirty="0">
                <a:solidFill>
                  <a:srgbClr val="3ECF8E"/>
                </a:solidFill>
                <a:latin typeface="Calibri" pitchFamily="34" charset="0"/>
                <a:ea typeface="Calibri" pitchFamily="34" charset="-122"/>
                <a:cs typeface="Calibri" pitchFamily="34" charset="-120"/>
              </a:rPr>
              <a:t>Upgrade: LLM-as-judge — trusted only after hand-labeling a sample and measuring judge-vs-human agreement. An unvalidated judge just moves hallucination into the test suite.</a:t>
            </a:r>
            <a:endParaRPr lang="en-US" sz="1200" dirty="0"/>
          </a:p>
        </p:txBody>
      </p:sp>
      <p:sp>
        <p:nvSpPr>
          <p:cNvPr id="7" name="Shape 5"/>
          <p:cNvSpPr/>
          <p:nvPr/>
        </p:nvSpPr>
        <p:spPr>
          <a:xfrm>
            <a:off x="822960" y="3063240"/>
            <a:ext cx="10515600" cy="1325880"/>
          </a:xfrm>
          <a:prstGeom prst="roundRect">
            <a:avLst>
              <a:gd name="adj" fmla="val 5517"/>
            </a:avLst>
          </a:prstGeom>
          <a:solidFill>
            <a:srgbClr val="171E2E"/>
          </a:solidFill>
          <a:ln w="12700">
            <a:solidFill>
              <a:srgbClr val="2A3550"/>
            </a:solidFill>
            <a:prstDash val="solid"/>
          </a:ln>
        </p:spPr>
      </p:sp>
      <p:sp>
        <p:nvSpPr>
          <p:cNvPr id="8" name="Text 6"/>
          <p:cNvSpPr/>
          <p:nvPr/>
        </p:nvSpPr>
        <p:spPr>
          <a:xfrm>
            <a:off x="1097280" y="3172968"/>
            <a:ext cx="3108960" cy="1097280"/>
          </a:xfrm>
          <a:prstGeom prst="rect">
            <a:avLst/>
          </a:prstGeom>
          <a:noFill/>
          <a:ln/>
        </p:spPr>
        <p:txBody>
          <a:bodyPr wrap="square" lIns="0" tIns="0" rIns="0" bIns="0" rtlCol="0" anchor="ctr"/>
          <a:lstStyle/>
          <a:p>
            <a:pPr indent="0" marL="0">
              <a:buNone/>
            </a:pPr>
            <a:r>
              <a:rPr lang="en-US" sz="1500" b="1" dirty="0">
                <a:solidFill>
                  <a:srgbClr val="FFB454"/>
                </a:solidFill>
                <a:latin typeface="Calibri" pitchFamily="34" charset="0"/>
                <a:ea typeface="Calibri" pitchFamily="34" charset="-122"/>
                <a:cs typeface="Calibri" pitchFamily="34" charset="-120"/>
              </a:rPr>
              <a:t>Golden set is 20 cases</a:t>
            </a:r>
            <a:endParaRPr lang="en-US" sz="1500" dirty="0"/>
          </a:p>
        </p:txBody>
      </p:sp>
      <p:sp>
        <p:nvSpPr>
          <p:cNvPr id="9" name="Text 7"/>
          <p:cNvSpPr/>
          <p:nvPr/>
        </p:nvSpPr>
        <p:spPr>
          <a:xfrm>
            <a:off x="4297680" y="3172968"/>
            <a:ext cx="3291840" cy="1143000"/>
          </a:xfrm>
          <a:prstGeom prst="rect">
            <a:avLst/>
          </a:prstGeom>
          <a:noFill/>
          <a:ln/>
        </p:spPr>
        <p:txBody>
          <a:bodyPr wrap="square" lIns="0" tIns="0" rIns="0" bIns="0" rtlCol="0" anchor="ctr"/>
          <a:lstStyle/>
          <a:p>
            <a:pPr indent="0" marL="0">
              <a:buNone/>
            </a:pPr>
            <a:r>
              <a:rPr lang="en-US" sz="1200" dirty="0">
                <a:solidFill>
                  <a:srgbClr val="8B95AB"/>
                </a:solidFill>
                <a:latin typeface="Calibri" pitchFamily="34" charset="0"/>
                <a:ea typeface="Calibri" pitchFamily="34" charset="-122"/>
                <a:cs typeface="Calibri" pitchFamily="34" charset="-120"/>
              </a:rPr>
              <a:t>Enough to prove the pattern, not to certify a product.</a:t>
            </a:r>
            <a:endParaRPr lang="en-US" sz="1200" dirty="0"/>
          </a:p>
        </p:txBody>
      </p:sp>
      <p:sp>
        <p:nvSpPr>
          <p:cNvPr id="10" name="Text 8"/>
          <p:cNvSpPr/>
          <p:nvPr/>
        </p:nvSpPr>
        <p:spPr>
          <a:xfrm>
            <a:off x="7772400" y="3172968"/>
            <a:ext cx="3291840" cy="1143000"/>
          </a:xfrm>
          <a:prstGeom prst="rect">
            <a:avLst/>
          </a:prstGeom>
          <a:noFill/>
          <a:ln/>
        </p:spPr>
        <p:txBody>
          <a:bodyPr wrap="square" lIns="0" tIns="0" rIns="0" bIns="0" rtlCol="0" anchor="ctr"/>
          <a:lstStyle/>
          <a:p>
            <a:pPr indent="0" marL="0">
              <a:buNone/>
            </a:pPr>
            <a:r>
              <a:rPr lang="en-US" sz="1200" dirty="0">
                <a:solidFill>
                  <a:srgbClr val="3ECF8E"/>
                </a:solidFill>
                <a:latin typeface="Calibri" pitchFamily="34" charset="0"/>
                <a:ea typeface="Calibri" pitchFamily="34" charset="-122"/>
                <a:cs typeface="Calibri" pitchFamily="34" charset="-120"/>
              </a:rPr>
              <a:t>Grow it from production: every defect found in the wild becomes a case, so it can never regress silently again.</a:t>
            </a:r>
            <a:endParaRPr lang="en-US" sz="1200" dirty="0"/>
          </a:p>
        </p:txBody>
      </p:sp>
      <p:sp>
        <p:nvSpPr>
          <p:cNvPr id="11" name="Shape 9"/>
          <p:cNvSpPr/>
          <p:nvPr/>
        </p:nvSpPr>
        <p:spPr>
          <a:xfrm>
            <a:off x="822960" y="4572000"/>
            <a:ext cx="10515600" cy="1325880"/>
          </a:xfrm>
          <a:prstGeom prst="roundRect">
            <a:avLst>
              <a:gd name="adj" fmla="val 5517"/>
            </a:avLst>
          </a:prstGeom>
          <a:solidFill>
            <a:srgbClr val="171E2E"/>
          </a:solidFill>
          <a:ln w="12700">
            <a:solidFill>
              <a:srgbClr val="2A3550"/>
            </a:solidFill>
            <a:prstDash val="solid"/>
          </a:ln>
        </p:spPr>
      </p:sp>
      <p:sp>
        <p:nvSpPr>
          <p:cNvPr id="12" name="Text 10"/>
          <p:cNvSpPr/>
          <p:nvPr/>
        </p:nvSpPr>
        <p:spPr>
          <a:xfrm>
            <a:off x="1097280" y="4681728"/>
            <a:ext cx="3108960" cy="1097280"/>
          </a:xfrm>
          <a:prstGeom prst="rect">
            <a:avLst/>
          </a:prstGeom>
          <a:noFill/>
          <a:ln/>
        </p:spPr>
        <p:txBody>
          <a:bodyPr wrap="square" lIns="0" tIns="0" rIns="0" bIns="0" rtlCol="0" anchor="ctr"/>
          <a:lstStyle/>
          <a:p>
            <a:pPr indent="0" marL="0">
              <a:buNone/>
            </a:pPr>
            <a:r>
              <a:rPr lang="en-US" sz="1500" b="1" dirty="0">
                <a:solidFill>
                  <a:srgbClr val="FFB454"/>
                </a:solidFill>
                <a:latin typeface="Calibri" pitchFamily="34" charset="0"/>
                <a:ea typeface="Calibri" pitchFamily="34" charset="-122"/>
                <a:cs typeface="Calibri" pitchFamily="34" charset="-120"/>
              </a:rPr>
              <a:t>Demo bot is a stand-in</a:t>
            </a:r>
            <a:endParaRPr lang="en-US" sz="1500" dirty="0"/>
          </a:p>
        </p:txBody>
      </p:sp>
      <p:sp>
        <p:nvSpPr>
          <p:cNvPr id="13" name="Text 11"/>
          <p:cNvSpPr/>
          <p:nvPr/>
        </p:nvSpPr>
        <p:spPr>
          <a:xfrm>
            <a:off x="4297680" y="4681728"/>
            <a:ext cx="3291840" cy="1143000"/>
          </a:xfrm>
          <a:prstGeom prst="rect">
            <a:avLst/>
          </a:prstGeom>
          <a:noFill/>
          <a:ln/>
        </p:spPr>
        <p:txBody>
          <a:bodyPr wrap="square" lIns="0" tIns="0" rIns="0" bIns="0" rtlCol="0" anchor="ctr"/>
          <a:lstStyle/>
          <a:p>
            <a:pPr indent="0" marL="0">
              <a:buNone/>
            </a:pPr>
            <a:r>
              <a:rPr lang="en-US" sz="1200" dirty="0">
                <a:solidFill>
                  <a:srgbClr val="8B95AB"/>
                </a:solidFill>
                <a:latin typeface="Calibri" pitchFamily="34" charset="0"/>
                <a:ea typeface="Calibri" pitchFamily="34" charset="-122"/>
                <a:cs typeface="Calibri" pitchFamily="34" charset="-120"/>
              </a:rPr>
              <a:t>Extractive by design, so the clean baseline is trustworthy and any drop is signal.</a:t>
            </a:r>
            <a:endParaRPr lang="en-US" sz="1200" dirty="0"/>
          </a:p>
        </p:txBody>
      </p:sp>
      <p:sp>
        <p:nvSpPr>
          <p:cNvPr id="14" name="Text 12"/>
          <p:cNvSpPr/>
          <p:nvPr/>
        </p:nvSpPr>
        <p:spPr>
          <a:xfrm>
            <a:off x="7772400" y="4681728"/>
            <a:ext cx="3291840" cy="1143000"/>
          </a:xfrm>
          <a:prstGeom prst="rect">
            <a:avLst/>
          </a:prstGeom>
          <a:noFill/>
          <a:ln/>
        </p:spPr>
        <p:txBody>
          <a:bodyPr wrap="square" lIns="0" tIns="0" rIns="0" bIns="0" rtlCol="0" anchor="ctr"/>
          <a:lstStyle/>
          <a:p>
            <a:pPr indent="0" marL="0">
              <a:buNone/>
            </a:pPr>
            <a:r>
              <a:rPr lang="en-US" sz="1200" dirty="0">
                <a:solidFill>
                  <a:srgbClr val="3ECF8E"/>
                </a:solidFill>
                <a:latin typeface="Calibri" pitchFamily="34" charset="0"/>
                <a:ea typeface="Calibri" pitchFamily="34" charset="-122"/>
                <a:cs typeface="Calibri" pitchFamily="34" charset="-120"/>
              </a:rPr>
              <a:t>Wire the real chatbot through the one-method adapter; requires the API to expose retrieved context.</a:t>
            </a:r>
            <a:endParaRPr lang="en-US" sz="1200" dirty="0"/>
          </a:p>
        </p:txBody>
      </p:sp>
      <p:sp>
        <p:nvSpPr>
          <p:cNvPr id="15" name="Text 13"/>
          <p:cNvSpPr/>
          <p:nvPr/>
        </p:nvSpPr>
        <p:spPr>
          <a:xfrm>
            <a:off x="822960" y="6172200"/>
            <a:ext cx="10515600" cy="457200"/>
          </a:xfrm>
          <a:prstGeom prst="rect">
            <a:avLst/>
          </a:prstGeom>
          <a:noFill/>
          <a:ln/>
        </p:spPr>
        <p:txBody>
          <a:bodyPr wrap="square" lIns="0" tIns="0" rIns="0" bIns="0" rtlCol="0" anchor="ctr"/>
          <a:lstStyle/>
          <a:p>
            <a:pPr indent="0" marL="0">
              <a:buNone/>
            </a:pPr>
            <a:r>
              <a:rPr lang="en-US" sz="1500" i="1" dirty="0">
                <a:solidFill>
                  <a:srgbClr val="E8ECF4"/>
                </a:solidFill>
                <a:latin typeface="Calibri" pitchFamily="34" charset="0"/>
                <a:ea typeface="Calibri" pitchFamily="34" charset="-122"/>
                <a:cs typeface="Calibri" pitchFamily="34" charset="-120"/>
              </a:rPr>
              <a:t>Knowing where your own eval lies to you is the difference between having tests and having quality.</a:t>
            </a:r>
            <a:endParaRPr lang="en-US" sz="15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F1420"/>
        </a:solidFill>
      </p:bgPr>
    </p:bg>
    <p:spTree>
      <p:nvGrpSpPr>
        <p:cNvPr id="1" name=""/>
        <p:cNvGrpSpPr/>
        <p:nvPr/>
      </p:nvGrpSpPr>
      <p:grpSpPr>
        <a:xfrm>
          <a:off x="0" y="0"/>
          <a:ext cx="0" cy="0"/>
          <a:chOff x="0" y="0"/>
          <a:chExt cx="0" cy="0"/>
        </a:xfrm>
      </p:grpSpPr>
      <p:sp>
        <p:nvSpPr>
          <p:cNvPr id="2" name="Text 0"/>
          <p:cNvSpPr/>
          <p:nvPr/>
        </p:nvSpPr>
        <p:spPr>
          <a:xfrm>
            <a:off x="822960" y="2103120"/>
            <a:ext cx="10515600" cy="1645920"/>
          </a:xfrm>
          <a:prstGeom prst="rect">
            <a:avLst/>
          </a:prstGeom>
          <a:noFill/>
          <a:ln/>
        </p:spPr>
        <p:txBody>
          <a:bodyPr wrap="square" lIns="0" tIns="0" rIns="0" bIns="0" rtlCol="0" anchor="ctr"/>
          <a:lstStyle/>
          <a:p>
            <a:pPr indent="0" marL="0">
              <a:buNone/>
            </a:pPr>
            <a:r>
              <a:rPr lang="en-US" sz="4000" b="1" dirty="0">
                <a:solidFill>
                  <a:srgbClr val="E8ECF4"/>
                </a:solidFill>
                <a:latin typeface="Calibri" pitchFamily="34" charset="0"/>
                <a:ea typeface="Calibri" pitchFamily="34" charset="-122"/>
                <a:cs typeface="Calibri" pitchFamily="34" charset="-120"/>
              </a:rPr>
              <a:t>Quality for AI systems is a discipline,</a:t>
            </a:r>
            <a:endParaRPr lang="en-US" sz="4000" dirty="0"/>
          </a:p>
          <a:p>
            <a:pPr indent="0" marL="0">
              <a:buNone/>
            </a:pPr>
            <a:r>
              <a:rPr lang="en-US" sz="4000" b="1" dirty="0">
                <a:solidFill>
                  <a:srgbClr val="E8ECF4"/>
                </a:solidFill>
                <a:latin typeface="Calibri" pitchFamily="34" charset="0"/>
                <a:ea typeface="Calibri" pitchFamily="34" charset="-122"/>
                <a:cs typeface="Calibri" pitchFamily="34" charset="-120"/>
              </a:rPr>
              <a:t>not a checkbox</a:t>
            </a:r>
            <a:endParaRPr lang="en-US" sz="4000" dirty="0"/>
          </a:p>
        </p:txBody>
      </p:sp>
      <p:sp>
        <p:nvSpPr>
          <p:cNvPr id="3" name="Text 1"/>
          <p:cNvSpPr/>
          <p:nvPr/>
        </p:nvSpPr>
        <p:spPr>
          <a:xfrm>
            <a:off x="822960" y="4023360"/>
            <a:ext cx="10515600" cy="914400"/>
          </a:xfrm>
          <a:prstGeom prst="rect">
            <a:avLst/>
          </a:prstGeom>
          <a:noFill/>
          <a:ln/>
        </p:spPr>
        <p:txBody>
          <a:bodyPr wrap="square" lIns="0" tIns="0" rIns="0" bIns="0" rtlCol="0" anchor="ctr"/>
          <a:lstStyle/>
          <a:p>
            <a:pPr indent="0" marL="0">
              <a:buNone/>
            </a:pPr>
            <a:r>
              <a:rPr lang="en-US" sz="1800" dirty="0">
                <a:solidFill>
                  <a:srgbClr val="8B95AB"/>
                </a:solidFill>
                <a:latin typeface="Calibri" pitchFamily="34" charset="0"/>
                <a:ea typeface="Calibri" pitchFamily="34" charset="-122"/>
                <a:cs typeface="Calibri" pitchFamily="34" charset="-120"/>
              </a:rPr>
              <a:t>Golden sets · five-dimension scoring · regression gate in CI</a:t>
            </a:r>
            <a:endParaRPr lang="en-US" sz="1800" dirty="0"/>
          </a:p>
          <a:p>
            <a:pPr indent="0" marL="0">
              <a:buNone/>
            </a:pPr>
            <a:r>
              <a:rPr lang="en-US" sz="1800" dirty="0">
                <a:solidFill>
                  <a:srgbClr val="5B8CFF"/>
                </a:solidFill>
                <a:latin typeface="Courier New" pitchFamily="34" charset="0"/>
                <a:ea typeface="Courier New" pitchFamily="34" charset="-122"/>
                <a:cs typeface="Courier New" pitchFamily="34" charset="-120"/>
              </a:rPr>
              <a:t>github.com/chgallegos/rag-eval-harness</a:t>
            </a:r>
            <a:endParaRPr lang="en-US" sz="1800" dirty="0"/>
          </a:p>
        </p:txBody>
      </p:sp>
      <p:sp>
        <p:nvSpPr>
          <p:cNvPr id="4" name="Text 2"/>
          <p:cNvSpPr/>
          <p:nvPr/>
        </p:nvSpPr>
        <p:spPr>
          <a:xfrm>
            <a:off x="822960" y="5852160"/>
            <a:ext cx="10515600" cy="457200"/>
          </a:xfrm>
          <a:prstGeom prst="rect">
            <a:avLst/>
          </a:prstGeom>
          <a:noFill/>
          <a:ln/>
        </p:spPr>
        <p:txBody>
          <a:bodyPr wrap="square" lIns="0" tIns="0" rIns="0" bIns="0" rtlCol="0" anchor="ctr"/>
          <a:lstStyle/>
          <a:p>
            <a:pPr indent="0" marL="0">
              <a:buNone/>
            </a:pPr>
            <a:r>
              <a:rPr lang="en-US" sz="1400" dirty="0">
                <a:solidFill>
                  <a:srgbClr val="8B95AB"/>
                </a:solidFill>
                <a:latin typeface="Calibri" pitchFamily="34" charset="0"/>
                <a:ea typeface="Calibri" pitchFamily="34" charset="-122"/>
                <a:cs typeface="Calibri" pitchFamily="34" charset="-120"/>
              </a:rPr>
              <a:t>Chris Gallegos · chrisale89@gmail.com · linkedin.com/in/gallegoschris89</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2026-07-16T23:56:22Z</dcterms:created>
  <dcterms:modified xsi:type="dcterms:W3CDTF">2026-07-16T23:56:22Z</dcterms:modified>
</cp:coreProperties>
</file>